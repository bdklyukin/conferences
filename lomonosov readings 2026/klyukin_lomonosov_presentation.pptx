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9" r:id="rId3"/>
    <p:sldId id="280" r:id="rId4"/>
    <p:sldId id="257" r:id="rId5"/>
    <p:sldId id="258" r:id="rId6"/>
    <p:sldId id="259" r:id="rId7"/>
    <p:sldId id="270" r:id="rId8"/>
    <p:sldId id="260" r:id="rId9"/>
    <p:sldId id="261" r:id="rId10"/>
    <p:sldId id="262" r:id="rId11"/>
    <p:sldId id="271" r:id="rId12"/>
    <p:sldId id="264" r:id="rId13"/>
    <p:sldId id="263" r:id="rId14"/>
    <p:sldId id="277" r:id="rId15"/>
    <p:sldId id="279" r:id="rId16"/>
    <p:sldId id="274" r:id="rId17"/>
    <p:sldId id="275" r:id="rId18"/>
    <p:sldId id="276" r:id="rId19"/>
    <p:sldId id="272" r:id="rId20"/>
    <p:sldId id="266" r:id="rId21"/>
    <p:sldId id="265" r:id="rId22"/>
    <p:sldId id="273" r:id="rId23"/>
    <p:sldId id="267" r:id="rId24"/>
    <p:sldId id="268" r:id="rId25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047" autoAdjust="0"/>
    <p:restoredTop sz="94622" autoAdjust="0"/>
  </p:normalViewPr>
  <p:slideViewPr>
    <p:cSldViewPr>
      <p:cViewPr varScale="1">
        <p:scale>
          <a:sx n="133" d="100"/>
          <a:sy n="133" d="100"/>
        </p:scale>
        <p:origin x="-984" y="-78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54" y="200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143000"/>
            <a:ext cx="8229600" cy="15240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776415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08000"/>
            <a:ext cx="7086600" cy="15240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089822"/>
            <a:ext cx="7086600" cy="1258093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5347230"/>
            <a:ext cx="762000" cy="30427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7542"/>
            <a:ext cx="8229600" cy="9525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625739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279261"/>
            <a:ext cx="4041775" cy="625739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968500"/>
            <a:ext cx="4040188" cy="3136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68500"/>
            <a:ext cx="4041775" cy="3136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1" y="1270000"/>
            <a:ext cx="3008313" cy="3835136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508000"/>
            <a:ext cx="5486400" cy="435240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526646"/>
            <a:ext cx="5486400" cy="33020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972323"/>
            <a:ext cx="5486400" cy="441960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9243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5347230"/>
            <a:ext cx="2133600" cy="304271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5347230"/>
            <a:ext cx="2895600" cy="304271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5347230"/>
            <a:ext cx="762000" cy="304271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030" y="2628900"/>
            <a:ext cx="8229600" cy="1524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Сравнительный анализ вклада фондового рынка в экономику Республики Индия и Китайской Народной Республики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2315"/>
            <a:ext cx="6400800" cy="14605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Клюкин Б.Д.</a:t>
            </a:r>
            <a:endParaRPr lang="en-US" dirty="0" smtClean="0"/>
          </a:p>
          <a:p>
            <a:r>
              <a:rPr lang="ru-RU" dirty="0" smtClean="0"/>
              <a:t>ИСАА МГУ им. М.В.Ломоносова, аспирант кафедры международных экономических отношений стран Азии и Африки</a:t>
            </a:r>
            <a:endParaRPr lang="en-US" dirty="0" smtClean="0"/>
          </a:p>
          <a:p>
            <a:r>
              <a:rPr lang="ru-RU" dirty="0" smtClean="0"/>
              <a:t>Фонда Развития Промышленности, Старший аналитик департамента анализа экономики промышленности</a:t>
            </a:r>
          </a:p>
        </p:txBody>
      </p:sp>
    </p:spTree>
    <p:extLst>
      <p:ext uri="{BB962C8B-B14F-4D97-AF65-F5344CB8AC3E}">
        <p14:creationId xmlns:p14="http://schemas.microsoft.com/office/powerpoint/2010/main" val="356634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Обоснование </a:t>
            </a:r>
            <a:r>
              <a:rPr lang="ru-RU" dirty="0"/>
              <a:t>исследования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089822"/>
            <a:ext cx="6324600" cy="1258093"/>
          </a:xfrm>
        </p:spPr>
        <p:txBody>
          <a:bodyPr>
            <a:noAutofit/>
          </a:bodyPr>
          <a:lstStyle/>
          <a:p>
            <a:pPr algn="just"/>
            <a:r>
              <a:rPr lang="ru-RU" dirty="0"/>
              <a:t>Взаимосвязь между развитием финансового сектора и экономическим ростом остается предметом активных теоретических и эмпирических дискуссий. Несмотря на общее признание важности устойчивой финансовой системы, конкретное влияние фондовых рынков на экономику трактуется неоднозначно</a:t>
            </a:r>
            <a:r>
              <a:rPr lang="ru-RU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75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Исходные данные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089822"/>
            <a:ext cx="6324600" cy="1258093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Исходные данные позволяют </a:t>
            </a:r>
            <a:r>
              <a:rPr lang="ru-RU" dirty="0" smtClean="0"/>
              <a:t>сравнить </a:t>
            </a:r>
            <a:r>
              <a:rPr lang="ru-RU" dirty="0"/>
              <a:t>размеры ВВП, экспорта, долга и фондового рынка каждой страны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 </a:t>
            </a:r>
            <a:r>
              <a:rPr lang="ru-RU" dirty="0"/>
              <a:t>выдвинуть ряд гипотез относительно </a:t>
            </a:r>
            <a:r>
              <a:rPr lang="ru-RU" dirty="0" smtClean="0"/>
              <a:t>вклада </a:t>
            </a:r>
            <a:br>
              <a:rPr lang="ru-RU" dirty="0" smtClean="0"/>
            </a:br>
            <a:r>
              <a:rPr lang="ru-RU" dirty="0" smtClean="0"/>
              <a:t>в </a:t>
            </a:r>
            <a:r>
              <a:rPr lang="ru-RU" dirty="0"/>
              <a:t>экономический рост </a:t>
            </a:r>
            <a:r>
              <a:rPr lang="ru-RU" dirty="0" smtClean="0"/>
              <a:t>каждой из них.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0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Динамика показателей</a:t>
            </a:r>
            <a:endParaRPr lang="en-US" dirty="0"/>
          </a:p>
        </p:txBody>
      </p:sp>
      <p:pic>
        <p:nvPicPr>
          <p:cNvPr id="1026" name="Picture 2" descr="C:\Users\bklyu\Documents\Python Scripts\_GitHub_repos\conferences\lomonosov readings 2026\explore_data\relationship_level_bot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551214"/>
            <a:ext cx="8778240" cy="261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21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</a:t>
            </a:r>
            <a:r>
              <a:rPr lang="ru-RU" dirty="0" smtClean="0"/>
              <a:t>показателей (Китай)</a:t>
            </a:r>
            <a:endParaRPr lang="en-US" dirty="0"/>
          </a:p>
        </p:txBody>
      </p:sp>
      <p:pic>
        <p:nvPicPr>
          <p:cNvPr id="2050" name="Picture 2" descr="C:\Users\bklyu\Documents\Python Scripts\_GitHub_repos\conferences\lomonosov readings 2026\explore_data\relationship_level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389294"/>
            <a:ext cx="8778240" cy="293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57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</a:t>
            </a:r>
            <a:r>
              <a:rPr lang="ru-RU" dirty="0" smtClean="0"/>
              <a:t>показателей (Индия)</a:t>
            </a:r>
            <a:endParaRPr lang="en-US" dirty="0"/>
          </a:p>
        </p:txBody>
      </p:sp>
      <p:pic>
        <p:nvPicPr>
          <p:cNvPr id="3074" name="Picture 2" descr="C:\Users\bklyu\Documents\Python Scripts\_GitHub_repos\conferences\lomonosov readings 2026\explore_data\relationship_level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387655"/>
            <a:ext cx="8778240" cy="293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63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Абсолютные приросты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/>
              <a:t>Абсолютные темпы роста, также известные как первые разности, позволяют </a:t>
            </a:r>
            <a:r>
              <a:rPr lang="ru-RU" dirty="0" smtClean="0"/>
              <a:t>сделать </a:t>
            </a:r>
            <a:r>
              <a:rPr lang="ru-RU" dirty="0"/>
              <a:t>данные стационарными,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что </a:t>
            </a:r>
            <a:r>
              <a:rPr lang="ru-RU" dirty="0"/>
              <a:t>является одним из ключевых предположений большинства эконометрических методов, включая векторную авторегрессию. Первые разности также позволяют </a:t>
            </a:r>
            <a:r>
              <a:rPr lang="ru-RU" dirty="0" smtClean="0"/>
              <a:t>исследовать </a:t>
            </a:r>
            <a:r>
              <a:rPr lang="ru-RU" dirty="0"/>
              <a:t>причинно-следственную связь роста, исключая общие тренды.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1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показателей</a:t>
            </a:r>
            <a:endParaRPr lang="en-US" dirty="0"/>
          </a:p>
        </p:txBody>
      </p:sp>
      <p:pic>
        <p:nvPicPr>
          <p:cNvPr id="4098" name="Picture 2" descr="C:\Users\bklyu\Documents\Python Scripts\_GitHub_repos\conferences\lomonosov readings 2026\explore_data\relationship_diff_bot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517992"/>
            <a:ext cx="8778240" cy="267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44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показателей (Китай)</a:t>
            </a:r>
            <a:endParaRPr lang="en-US" dirty="0"/>
          </a:p>
        </p:txBody>
      </p:sp>
      <p:pic>
        <p:nvPicPr>
          <p:cNvPr id="5122" name="Picture 2" descr="C:\Users\bklyu\Documents\Python Scripts\_GitHub_repos\conferences\lomonosov readings 2026\explore_data\relationship_diff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377745"/>
            <a:ext cx="8778240" cy="295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01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показателей (Индия)</a:t>
            </a:r>
            <a:endParaRPr lang="en-US" dirty="0"/>
          </a:p>
        </p:txBody>
      </p:sp>
      <p:pic>
        <p:nvPicPr>
          <p:cNvPr id="6146" name="Picture 2" descr="C:\Users\bklyu\Documents\Python Scripts\_GitHub_repos\conferences\lomonosov readings 2026\explore_data\relationship_diff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382716"/>
            <a:ext cx="8778240" cy="294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36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Векторная авторегрессия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/>
              <a:t>Векторная авторегрессия (VAR — Vector AutoRegression) — это эконометрическая модель, используемая для анализа и прогнозирования нескольких взаимосвязанных временных рядов</a:t>
            </a:r>
            <a:r>
              <a:rPr lang="ru-RU" dirty="0"/>
              <a:t>. В ней текущее значение каждой переменной зависит от её собственных прошлых значений и от прошлых значений всех остальных переменных в системе. Она применяется для моделирования динамики и взаимовлияния стационарных экономических показателей.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29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</a:t>
            </a:r>
            <a:r>
              <a:rPr lang="ru-RU" dirty="0"/>
              <a:t> </a:t>
            </a:r>
            <a:r>
              <a:rPr lang="ru-RU" dirty="0" smtClean="0"/>
              <a:t>Индии</a:t>
            </a:r>
            <a:r>
              <a:rPr lang="en-US" dirty="0" smtClean="0"/>
              <a:t>: </a:t>
            </a:r>
            <a:r>
              <a:rPr lang="ru-RU" dirty="0" smtClean="0"/>
              <a:t>спецификация</a:t>
            </a:r>
            <a:endParaRPr lang="en-US" dirty="0"/>
          </a:p>
        </p:txBody>
      </p:sp>
      <p:pic>
        <p:nvPicPr>
          <p:cNvPr id="8200" name="Picture 8" descr="C:\Users\bklyu\Documents\Python Scripts\_GitHub_repos\conferences\lomonosov readings 2026\explore_data\_gdp_obs_model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485900"/>
            <a:ext cx="5486401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1777" y="2503557"/>
            <a:ext cx="1995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VAR(5)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6165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</a:t>
            </a:r>
            <a:r>
              <a:rPr lang="ru-RU" dirty="0"/>
              <a:t> Индии</a:t>
            </a:r>
            <a:r>
              <a:rPr lang="en-US" dirty="0"/>
              <a:t>: </a:t>
            </a:r>
            <a:r>
              <a:rPr lang="ru-RU" dirty="0" smtClean="0"/>
              <a:t>прогноз</a:t>
            </a:r>
            <a:endParaRPr lang="en-US" dirty="0"/>
          </a:p>
        </p:txBody>
      </p:sp>
      <p:pic>
        <p:nvPicPr>
          <p:cNvPr id="7172" name="Picture 4" descr="C:\Users\bklyu\Documents\Python Scripts\_GitHub_repos\conferences\lomonosov readings 2026\explore_data\_gdp_forecast_diff_india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" t="6425" r="2951" b="6336"/>
          <a:stretch/>
        </p:blipFill>
        <p:spPr bwMode="auto">
          <a:xfrm>
            <a:off x="228600" y="1104900"/>
            <a:ext cx="3657600" cy="175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C:\Users\bklyu\Documents\Python Scripts\_GitHub_repos\conferences\lomonosov readings 2026\explore_data\_gdp_forecast_value_india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0" t="6511" r="2691" b="5469"/>
          <a:stretch/>
        </p:blipFill>
        <p:spPr bwMode="auto">
          <a:xfrm>
            <a:off x="2714623" y="2697954"/>
            <a:ext cx="6248401" cy="292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78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</a:t>
            </a:r>
            <a:r>
              <a:rPr lang="ru-RU" dirty="0"/>
              <a:t> </a:t>
            </a:r>
            <a:r>
              <a:rPr lang="ru-RU" dirty="0" smtClean="0"/>
              <a:t>Китая</a:t>
            </a:r>
            <a:r>
              <a:rPr lang="en-US" dirty="0" smtClean="0"/>
              <a:t>: </a:t>
            </a:r>
            <a:r>
              <a:rPr lang="ru-RU" dirty="0" smtClean="0"/>
              <a:t>спецификация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71777" y="2503557"/>
            <a:ext cx="1995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VAR(</a:t>
            </a:r>
            <a:r>
              <a:rPr lang="ru-RU" sz="4000" dirty="0" smtClean="0"/>
              <a:t>2</a:t>
            </a:r>
            <a:r>
              <a:rPr lang="en-US" sz="4000" dirty="0" smtClean="0"/>
              <a:t>)</a:t>
            </a:r>
            <a:endParaRPr lang="en-US" sz="4000" dirty="0"/>
          </a:p>
        </p:txBody>
      </p:sp>
      <p:pic>
        <p:nvPicPr>
          <p:cNvPr id="13314" name="Picture 2" descr="C:\Users\bklyu\Documents\Python Scripts\_GitHub_repos\conferences\lomonosov readings 2026\explore_data\_gdp_obs_model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485900"/>
            <a:ext cx="54864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46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</a:t>
            </a:r>
            <a:r>
              <a:rPr lang="ru-RU" dirty="0"/>
              <a:t> </a:t>
            </a:r>
            <a:r>
              <a:rPr lang="ru-RU" dirty="0" smtClean="0"/>
              <a:t>Китая</a:t>
            </a:r>
            <a:r>
              <a:rPr lang="en-US" dirty="0" smtClean="0"/>
              <a:t>: </a:t>
            </a:r>
            <a:r>
              <a:rPr lang="ru-RU" dirty="0" smtClean="0"/>
              <a:t>прогноз</a:t>
            </a:r>
            <a:endParaRPr lang="en-US" dirty="0"/>
          </a:p>
        </p:txBody>
      </p:sp>
      <p:pic>
        <p:nvPicPr>
          <p:cNvPr id="14338" name="Picture 2" descr="C:\Users\bklyu\Documents\Python Scripts\_GitHub_repos\conferences\lomonosov readings 2026\explore_data\_gdp_forecast_diff_china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8" r="2865" b="6944"/>
          <a:stretch/>
        </p:blipFill>
        <p:spPr bwMode="auto">
          <a:xfrm>
            <a:off x="254794" y="1104900"/>
            <a:ext cx="3657600" cy="162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 descr="C:\Users\bklyu\Documents\Python Scripts\_GitHub_repos\conferences\lomonosov readings 2026\explore_data\_gdp_forecast_value_china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2" r="3211" b="6799"/>
          <a:stretch/>
        </p:blipFill>
        <p:spPr bwMode="auto">
          <a:xfrm>
            <a:off x="2714622" y="2781300"/>
            <a:ext cx="6309360" cy="281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14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 smtClean="0"/>
              <a:t>Функции </a:t>
            </a:r>
            <a:r>
              <a:rPr lang="ru-RU" sz="4400" dirty="0"/>
              <a:t>импульсных </a:t>
            </a:r>
            <a:r>
              <a:rPr lang="ru-RU" sz="4400" dirty="0" smtClean="0"/>
              <a:t>откликов</a:t>
            </a:r>
            <a:endParaRPr lang="ru-RU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 smtClean="0"/>
              <a:t>Функции импульсных откликов (IRF – </a:t>
            </a:r>
            <a:r>
              <a:rPr lang="en-US" dirty="0" smtClean="0"/>
              <a:t>Impulse</a:t>
            </a:r>
            <a:r>
              <a:rPr lang="ru-RU" dirty="0" smtClean="0"/>
              <a:t> </a:t>
            </a:r>
            <a:r>
              <a:rPr lang="en-US" dirty="0" smtClean="0"/>
              <a:t>Response </a:t>
            </a:r>
            <a:r>
              <a:rPr lang="en-US" dirty="0"/>
              <a:t>Function</a:t>
            </a:r>
            <a:r>
              <a:rPr lang="ru-RU" dirty="0" smtClean="0"/>
              <a:t>) в векторной авторегрессии показывают, как шок (непредвиденное изменение) одной переменной влияет на текущие и будущие значения всех переменных системы. IRF позволяет оценить силу, направление и длительность реакции системы на внешний импульс, затухающий со временем.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82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Отклик ВВП Китая </a:t>
            </a:r>
            <a:r>
              <a:rPr lang="ru-RU" dirty="0" smtClean="0"/>
              <a:t>на </a:t>
            </a:r>
            <a:r>
              <a:rPr lang="ru-RU" dirty="0"/>
              <a:t>шоки</a:t>
            </a:r>
            <a:endParaRPr lang="en-US" dirty="0"/>
          </a:p>
        </p:txBody>
      </p:sp>
      <p:pic>
        <p:nvPicPr>
          <p:cNvPr id="8195" name="Picture 3" descr="C:\Users\bklyu\Documents\Python Scripts\_GitHub_repos\conferences\lomonosov readings 2026\explore_data\irf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487741"/>
            <a:ext cx="8778240" cy="273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88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Отклик ВВП </a:t>
            </a:r>
            <a:r>
              <a:rPr lang="ru-RU" dirty="0"/>
              <a:t>Индии </a:t>
            </a:r>
            <a:r>
              <a:rPr lang="ru-RU" dirty="0" smtClean="0"/>
              <a:t>на шоки</a:t>
            </a:r>
            <a:endParaRPr lang="en-US" dirty="0"/>
          </a:p>
        </p:txBody>
      </p:sp>
      <p:pic>
        <p:nvPicPr>
          <p:cNvPr id="7171" name="Picture 3" descr="C:\Users\bklyu\Documents\Python Scripts\_GitHub_repos\conferences\lomonosov readings 2026\explore_data\irf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487142"/>
            <a:ext cx="8778240" cy="274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88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08000"/>
            <a:ext cx="7543800" cy="1524000"/>
          </a:xfrm>
        </p:spPr>
        <p:txBody>
          <a:bodyPr/>
          <a:lstStyle/>
          <a:p>
            <a:r>
              <a:rPr lang="ru-RU" sz="4400" dirty="0"/>
              <a:t>Кумулятивная функция импульсных </a:t>
            </a:r>
            <a:r>
              <a:rPr lang="ru-RU" sz="4400" dirty="0" smtClean="0"/>
              <a:t>откликов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/>
              <a:t>Кумулятивная функция импульсных откликов (</a:t>
            </a:r>
            <a:r>
              <a:rPr lang="ru-RU" dirty="0" smtClean="0"/>
              <a:t>CIRF – </a:t>
            </a:r>
            <a:r>
              <a:rPr lang="en-US" dirty="0" smtClean="0"/>
              <a:t>Cumulative Impulse</a:t>
            </a:r>
            <a:r>
              <a:rPr lang="ru-RU" dirty="0" smtClean="0"/>
              <a:t> </a:t>
            </a:r>
            <a:r>
              <a:rPr lang="en-US" dirty="0"/>
              <a:t>Response Function</a:t>
            </a:r>
            <a:r>
              <a:rPr lang="ru-RU" dirty="0" smtClean="0"/>
              <a:t>) </a:t>
            </a:r>
            <a:r>
              <a:rPr lang="ru-RU" dirty="0"/>
              <a:t>в моделях векторной </a:t>
            </a:r>
            <a:r>
              <a:rPr lang="ru-RU" dirty="0" smtClean="0"/>
              <a:t>авторегрессии </a:t>
            </a:r>
            <a:r>
              <a:rPr lang="ru-RU" dirty="0"/>
              <a:t>показывает совокупный долгосрочный эффект единовременного шока одной переменной на будущие значения других </a:t>
            </a:r>
            <a:r>
              <a:rPr lang="ru-RU" dirty="0" smtClean="0"/>
              <a:t>переменных. </a:t>
            </a:r>
            <a:r>
              <a:rPr lang="ru-RU" dirty="0"/>
              <a:t>В отличие от обычного импульсного отклика, который показывает реакцию в конкретный момент времени, CIRF накапливает </a:t>
            </a:r>
            <a:r>
              <a:rPr lang="ru-RU" dirty="0" smtClean="0"/>
              <a:t>эти реакции, </a:t>
            </a:r>
            <a:r>
              <a:rPr lang="ru-RU" dirty="0"/>
              <a:t>позволяя оценить, приведет ли шок к постоянному изменению уровня переменной.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04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Накопленная </a:t>
            </a:r>
            <a:r>
              <a:rPr lang="ru-RU" dirty="0"/>
              <a:t>реакция </a:t>
            </a:r>
            <a:r>
              <a:rPr lang="ru-RU" dirty="0" smtClean="0"/>
              <a:t>Китая</a:t>
            </a:r>
            <a:endParaRPr lang="en-US" dirty="0"/>
          </a:p>
        </p:txBody>
      </p:sp>
      <p:pic>
        <p:nvPicPr>
          <p:cNvPr id="10242" name="Picture 2" descr="C:\Users\bklyu\Documents\Python Scripts\_GitHub_repos\conferences\lomonosov readings 2026\explore_data\cirf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467281"/>
            <a:ext cx="8778240" cy="278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72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Накопленная реакция ВВП </a:t>
            </a:r>
            <a:r>
              <a:rPr lang="ru-RU" dirty="0"/>
              <a:t>Индии</a:t>
            </a:r>
            <a:endParaRPr lang="en-US" dirty="0"/>
          </a:p>
        </p:txBody>
      </p:sp>
      <p:pic>
        <p:nvPicPr>
          <p:cNvPr id="9219" name="Picture 3" descr="C:\Users\bklyu\Documents\Python Scripts\_GitHub_repos\conferences\lomonosov readings 2026\explore_data\cirf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475180"/>
            <a:ext cx="8778240" cy="27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03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Разложение дисперсии ошибки </a:t>
            </a:r>
            <a:r>
              <a:rPr lang="ru-RU" sz="4400" dirty="0" smtClean="0"/>
              <a:t>прогноза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Разложение </a:t>
            </a:r>
            <a:r>
              <a:rPr lang="ru-RU" dirty="0"/>
              <a:t>дисперсии ошибки прогноза </a:t>
            </a:r>
            <a:r>
              <a:rPr lang="ru-RU" dirty="0" smtClean="0"/>
              <a:t>(FEVD – Forecast Error </a:t>
            </a:r>
            <a:r>
              <a:rPr lang="ru-RU" dirty="0"/>
              <a:t>Variance </a:t>
            </a:r>
            <a:r>
              <a:rPr lang="ru-RU" dirty="0" smtClean="0"/>
              <a:t>Decomposition), — </a:t>
            </a:r>
            <a:r>
              <a:rPr lang="ru-RU" dirty="0"/>
              <a:t>это метод в эконометрике (обычно в моделях VAR), определяющий, какой процент волатильности (дисперсии) одной переменной объясняется неожиданными шоками другой переменной. FEVD показывает относительную важность каждого структурного шока для переменных системы в краткосрочной и долгосрочной перспективе.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04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Вклад переменных в ВВП Индии</a:t>
            </a:r>
            <a:endParaRPr lang="en-US" dirty="0"/>
          </a:p>
        </p:txBody>
      </p:sp>
      <p:pic>
        <p:nvPicPr>
          <p:cNvPr id="11266" name="Picture 2" descr="C:\Users\bklyu\Documents\Python Scripts\_GitHub_repos\conferences\lomonosov readings 2026\explore_data\fevd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716329"/>
            <a:ext cx="8778240" cy="2282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74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Вклад переменных в ВВП </a:t>
            </a:r>
            <a:r>
              <a:rPr lang="ru-RU" dirty="0" smtClean="0"/>
              <a:t>Китая</a:t>
            </a:r>
            <a:endParaRPr lang="en-US" dirty="0"/>
          </a:p>
        </p:txBody>
      </p:sp>
      <p:pic>
        <p:nvPicPr>
          <p:cNvPr id="12290" name="Picture 2" descr="C:\Users\bklyu\Documents\Python Scripts\_GitHub_repos\conferences\lomonosov readings 2026\explore_data\fevd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706575"/>
            <a:ext cx="8778240" cy="230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96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190</TotalTime>
  <Words>374</Words>
  <Application>Microsoft Office PowerPoint</Application>
  <PresentationFormat>On-screen Show (16:10)</PresentationFormat>
  <Paragraphs>36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Apex</vt:lpstr>
      <vt:lpstr>Сравнительный анализ вклада фондового рынка в экономику Республики Индия и Китайской Народной Республики</vt:lpstr>
      <vt:lpstr>Обоснование исследования</vt:lpstr>
      <vt:lpstr>Исходные данные</vt:lpstr>
      <vt:lpstr>Динамика показателей</vt:lpstr>
      <vt:lpstr>Динамика показателей (Китай)</vt:lpstr>
      <vt:lpstr>Динамика показателей (Индия)</vt:lpstr>
      <vt:lpstr>Абсолютные приросты</vt:lpstr>
      <vt:lpstr>Динамика показателей</vt:lpstr>
      <vt:lpstr>Динамика показателей (Китай)</vt:lpstr>
      <vt:lpstr>Динамика показателей (Индия)</vt:lpstr>
      <vt:lpstr>Векторная авторегрессия</vt:lpstr>
      <vt:lpstr>VAR Индии: спецификация</vt:lpstr>
      <vt:lpstr>VAR Индии: прогноз</vt:lpstr>
      <vt:lpstr>VAR Китая: спецификация</vt:lpstr>
      <vt:lpstr>VAR Китая: прогноз</vt:lpstr>
      <vt:lpstr>Функции импульсных откликов</vt:lpstr>
      <vt:lpstr>Отклик ВВП Китая на шоки</vt:lpstr>
      <vt:lpstr>Отклик ВВП Индии на шоки</vt:lpstr>
      <vt:lpstr>Кумулятивная функция импульсных откликов</vt:lpstr>
      <vt:lpstr>Накопленная реакция Китая</vt:lpstr>
      <vt:lpstr>Накопленная реакция ВВП Индии</vt:lpstr>
      <vt:lpstr>Разложение дисперсии ошибки прогноза</vt:lpstr>
      <vt:lpstr>Вклад переменных в ВВП Индии</vt:lpstr>
      <vt:lpstr>Вклад переменных в ВВП Китая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Сравнительный анализ вклада фондового рынка в экономику Республики Индия и Китайской Народной Республики</dc:title>
  <dc:creator>Boris Klyukin</dc:creator>
  <cp:lastModifiedBy>Boris Klyukin</cp:lastModifiedBy>
  <cp:revision>12</cp:revision>
  <dcterms:created xsi:type="dcterms:W3CDTF">2006-08-16T00:00:00Z</dcterms:created>
  <dcterms:modified xsi:type="dcterms:W3CDTF">2026-03-29T19:22:33Z</dcterms:modified>
</cp:coreProperties>
</file>