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9" r:id="rId3"/>
    <p:sldId id="256" r:id="rId4"/>
    <p:sldId id="258" r:id="rId5"/>
    <p:sldId id="260" r:id="rId6"/>
    <p:sldId id="261" r:id="rId7"/>
    <p:sldId id="262" r:id="rId8"/>
    <p:sldId id="263" r:id="rId9"/>
    <p:sldId id="266" r:id="rId10"/>
    <p:sldId id="265" r:id="rId11"/>
    <p:sldId id="267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fld id="{1395344C-CDB5-4C32-91CE-13EA3C4DB78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01983A0D-53E3-48BC-BC98-CEB5393F6E56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344C-CDB5-4C32-91CE-13EA3C4DB78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983A0D-53E3-48BC-BC98-CEB5393F6E5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fld id="{1395344C-CDB5-4C32-91CE-13EA3C4DB78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01983A0D-53E3-48BC-BC98-CEB5393F6E5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344C-CDB5-4C32-91CE-13EA3C4DB78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983A0D-53E3-48BC-BC98-CEB5393F6E5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344C-CDB5-4C32-91CE-13EA3C4DB78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983A0D-53E3-48BC-BC98-CEB5393F6E56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344C-CDB5-4C32-91CE-13EA3C4DB78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983A0D-53E3-48BC-BC98-CEB5393F6E5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344C-CDB5-4C32-91CE-13EA3C4DB78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983A0D-53E3-48BC-BC98-CEB5393F6E5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344C-CDB5-4C32-91CE-13EA3C4DB78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983A0D-53E3-48BC-BC98-CEB5393F6E5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344C-CDB5-4C32-91CE-13EA3C4DB78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983A0D-53E3-48BC-BC98-CEB5393F6E56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344C-CDB5-4C32-91CE-13EA3C4DB78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983A0D-53E3-48BC-BC98-CEB5393F6E56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5344C-CDB5-4C32-91CE-13EA3C4DB78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983A0D-53E3-48BC-BC98-CEB5393F6E56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983A0D-53E3-48BC-BC98-CEB5393F6E5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395344C-CDB5-4C32-91CE-13EA3C4DB78F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971800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ru-RU" sz="1700" dirty="0"/>
              <a:t> Клюкин Б.Д</a:t>
            </a:r>
            <a:r>
              <a:rPr lang="ru-RU" sz="1700" dirty="0" smtClean="0"/>
              <a:t>.</a:t>
            </a:r>
          </a:p>
          <a:p>
            <a:endParaRPr lang="ru-RU" sz="1700" dirty="0"/>
          </a:p>
          <a:p>
            <a:r>
              <a:rPr lang="ru-RU" dirty="0" smtClean="0"/>
              <a:t>ИСАА </a:t>
            </a:r>
            <a:r>
              <a:rPr lang="ru-RU" dirty="0"/>
              <a:t>МГУ им. М.В.Ломоносова,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аспирант кафедры </a:t>
            </a:r>
            <a:r>
              <a:rPr lang="ru-RU" dirty="0"/>
              <a:t>международных экономических отношений стран Азии и </a:t>
            </a:r>
            <a:r>
              <a:rPr lang="ru-RU" dirty="0" smtClean="0"/>
              <a:t>Африки</a:t>
            </a:r>
            <a:endParaRPr lang="en-US" dirty="0" smtClean="0"/>
          </a:p>
          <a:p>
            <a:r>
              <a:rPr lang="ru-RU" i="1" dirty="0"/>
              <a:t>Научный руководитель</a:t>
            </a:r>
            <a:r>
              <a:rPr lang="ru-RU" i="1" dirty="0" smtClean="0"/>
              <a:t>:</a:t>
            </a:r>
          </a:p>
          <a:p>
            <a:r>
              <a:rPr lang="ru-RU" i="1" dirty="0" smtClean="0"/>
              <a:t>Мельянцев </a:t>
            </a:r>
            <a:r>
              <a:rPr lang="ru-RU" i="1" dirty="0"/>
              <a:t>Виталий Альбертович </a:t>
            </a:r>
            <a:endParaRPr lang="en-US" i="1" dirty="0" smtClean="0"/>
          </a:p>
          <a:p>
            <a:endParaRPr lang="ru-RU" dirty="0"/>
          </a:p>
          <a:p>
            <a:r>
              <a:rPr lang="ru-RU" dirty="0"/>
              <a:t>Фонда Развития Промышленности,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Старший </a:t>
            </a:r>
            <a:r>
              <a:rPr lang="ru-RU" dirty="0"/>
              <a:t>аналитик департамента анализа экономики </a:t>
            </a:r>
            <a:r>
              <a:rPr lang="ru-RU" dirty="0" smtClean="0"/>
              <a:t>промышленности</a:t>
            </a:r>
            <a:endParaRPr lang="en-US" dirty="0" smtClean="0"/>
          </a:p>
          <a:p>
            <a:endParaRPr lang="ru-RU" dirty="0"/>
          </a:p>
          <a:p>
            <a:pPr algn="ctr"/>
            <a:r>
              <a:rPr lang="ru-RU" dirty="0" smtClean="0"/>
              <a:t>МОСКВА</a:t>
            </a:r>
          </a:p>
          <a:p>
            <a:pPr algn="ctr"/>
            <a:r>
              <a:rPr lang="ru-RU" dirty="0" smtClean="0"/>
              <a:t>21.04.2026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71600" y="990600"/>
            <a:ext cx="5029200" cy="2590800"/>
          </a:xfrm>
        </p:spPr>
        <p:txBody>
          <a:bodyPr>
            <a:noAutofit/>
          </a:bodyPr>
          <a:lstStyle/>
          <a:p>
            <a:r>
              <a:rPr lang="ru-RU" sz="3200" b="1" dirty="0"/>
              <a:t>Влияние фондового рынка и банковской системы </a:t>
            </a:r>
            <a:r>
              <a:rPr lang="ru-RU" sz="3200" b="1" dirty="0" smtClean="0"/>
              <a:t>на </a:t>
            </a:r>
            <a:r>
              <a:rPr lang="ru-RU" sz="3200" b="1" dirty="0"/>
              <a:t>экономический рост: панельный анализ </a:t>
            </a:r>
            <a:r>
              <a:rPr lang="ru-RU" sz="3200" b="1" dirty="0" smtClean="0"/>
              <a:t/>
            </a:r>
            <a:br>
              <a:rPr lang="ru-RU" sz="3200" b="1" dirty="0" smtClean="0"/>
            </a:br>
            <a:r>
              <a:rPr lang="ru-RU" sz="3200" b="1" dirty="0" smtClean="0"/>
              <a:t>Китая </a:t>
            </a:r>
            <a:r>
              <a:rPr lang="ru-RU" sz="3200" b="1" dirty="0"/>
              <a:t>и Индии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35588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91000" y="147191"/>
            <a:ext cx="46249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smtClean="0">
                <a:latin typeface="+mj-lt"/>
              </a:rPr>
              <a:t>Литература </a:t>
            </a:r>
            <a:r>
              <a:rPr lang="ru-RU" sz="3200" b="1" dirty="0" smtClean="0">
                <a:latin typeface="+mj-lt"/>
              </a:rPr>
              <a:t/>
            </a:r>
            <a:br>
              <a:rPr lang="ru-RU" sz="3200" b="1" dirty="0" smtClean="0">
                <a:latin typeface="+mj-lt"/>
              </a:rPr>
            </a:br>
            <a:r>
              <a:rPr lang="ru-RU" sz="2800" dirty="0" smtClean="0">
                <a:latin typeface="+mj-lt"/>
              </a:rPr>
              <a:t>про банковский сектор</a:t>
            </a:r>
            <a:endParaRPr lang="en-US" sz="2800" dirty="0">
              <a:latin typeface="+mj-lt"/>
            </a:endParaRPr>
          </a:p>
        </p:txBody>
      </p:sp>
      <p:pic>
        <p:nvPicPr>
          <p:cNvPr id="3074" name="Picture 2" descr="We don't always have good ideas, But when we do something amazing is  created. - Roll Safe Black Guy Pointing at His Head Meme Generato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75"/>
          <a:stretch/>
        </p:blipFill>
        <p:spPr bwMode="auto">
          <a:xfrm>
            <a:off x="685799" y="1224409"/>
            <a:ext cx="6046591" cy="4414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3d значок банка — высококачественный финансовый банковский символ для  цифровых активов и безопасных транзакций PNG , банк, икона, 3d PNG рисунок  для бесплатной загрузки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000" b="93800" l="7680" r="9292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828800"/>
            <a:ext cx="33528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499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storation] My take on a &quot;Not Stonks&quot; - .pdn available ! :  r/MemeRestor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598" y="4929642"/>
            <a:ext cx="2743200" cy="1710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Stonks Meme upscaled : r/MemeRestorat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3398" y="2133600"/>
            <a:ext cx="2743200" cy="205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271062" y="4191832"/>
            <a:ext cx="129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 smtClean="0"/>
              <a:t>или</a:t>
            </a:r>
            <a:endParaRPr lang="en-US" sz="4400" dirty="0"/>
          </a:p>
        </p:txBody>
      </p:sp>
      <p:pic>
        <p:nvPicPr>
          <p:cNvPr id="13" name="Picture 6" descr="статуя родена мыслитель, роден огюст, мыслитель - cкачать бесплатно рендер  Статуи на Artage.i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5" y="685800"/>
            <a:ext cx="3104958" cy="4383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191000" y="147191"/>
            <a:ext cx="46249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smtClean="0">
                <a:latin typeface="+mj-lt"/>
              </a:rPr>
              <a:t>Литература </a:t>
            </a:r>
            <a:r>
              <a:rPr lang="ru-RU" sz="3200" b="1" dirty="0" smtClean="0">
                <a:latin typeface="+mj-lt"/>
              </a:rPr>
              <a:t/>
            </a:r>
            <a:br>
              <a:rPr lang="ru-RU" sz="3200" b="1" dirty="0" smtClean="0">
                <a:latin typeface="+mj-lt"/>
              </a:rPr>
            </a:br>
            <a:r>
              <a:rPr lang="ru-RU" sz="2800" dirty="0" smtClean="0">
                <a:latin typeface="+mj-lt"/>
              </a:rPr>
              <a:t>про фондовые рынки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43139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Жизненного размера бронзовая статуя Мыслителя, знаменитая фигурка  бронзового человека, скульптура для декора - Китай Мышление Man статуи и  мыслителя Man статуи цена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5" name="Picture 7" descr="C:\Users\bklyu\Documents\Python Scripts\_GitHub_repos\conferences\2026.04.21\explore_data\anual_comparisons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57" b="62546"/>
          <a:stretch/>
        </p:blipFill>
        <p:spPr bwMode="auto">
          <a:xfrm>
            <a:off x="188870" y="-9316"/>
            <a:ext cx="8321868" cy="671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688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Жизненного размера бронзовая статуя Мыслителя, знаменитая фигурка  бронзового человека, скульптура для декора - Китай Мышление Man статуи и  мыслителя Man статуи цена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5" name="Picture 7" descr="C:\Users\bklyu\Documents\Python Scripts\_GitHub_repos\conferences\2026.04.21\explore_data\anual_comparisons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16" b="35387"/>
          <a:stretch/>
        </p:blipFill>
        <p:spPr bwMode="auto">
          <a:xfrm>
            <a:off x="188870" y="-9316"/>
            <a:ext cx="8321868" cy="671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582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Жизненного размера бронзовая статуя Мыслителя, знаменитая фигурка  бронзового человека, скульптура для декора - Китай Мышление Man статуи и  мыслителя Man статуи цена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5" name="Picture 7" descr="C:\Users\bklyu\Documents\Python Scripts\_GitHub_repos\conferences\2026.04.21\explore_data\anual_comparisons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943" b="8160"/>
          <a:stretch/>
        </p:blipFill>
        <p:spPr bwMode="auto">
          <a:xfrm>
            <a:off x="196059" y="16563"/>
            <a:ext cx="8321868" cy="671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554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9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1447800"/>
            <a:ext cx="8534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2400" dirty="0"/>
              <a:t>О</a:t>
            </a:r>
            <a:r>
              <a:rPr lang="ru-RU" sz="2400" dirty="0" smtClean="0"/>
              <a:t>бъединенная </a:t>
            </a:r>
            <a:r>
              <a:rPr lang="ru-RU" sz="2400" dirty="0"/>
              <a:t>регрессия </a:t>
            </a:r>
            <a:r>
              <a:rPr lang="ru-RU" sz="2400" b="1" dirty="0"/>
              <a:t>(Pooled</a:t>
            </a:r>
            <a:r>
              <a:rPr lang="ru-RU" sz="2400" b="1" dirty="0" smtClean="0"/>
              <a:t>)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ru-RU" sz="2400" dirty="0"/>
              <a:t>рассматривает весь набор данных вместе, поэтому не учитывает неоднородность между объектами и во </a:t>
            </a:r>
            <a:r>
              <a:rPr lang="ru-RU" sz="2400" dirty="0" smtClean="0"/>
              <a:t>времени</a:t>
            </a:r>
            <a:endParaRPr lang="en-US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228600" y="3810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+mj-lt"/>
              </a:rPr>
              <a:t>Данные были проанализированы с использованием различных регрессионных моделей</a:t>
            </a:r>
            <a:endParaRPr lang="en-US" sz="2400" b="1" dirty="0">
              <a:latin typeface="+mj-lt"/>
            </a:endParaRPr>
          </a:p>
        </p:txBody>
      </p:sp>
      <p:pic>
        <p:nvPicPr>
          <p:cNvPr id="1026" name="Picture 2" descr="File:Flag of the People's Republic of China.svg - Wikimedia Comm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144328"/>
            <a:ext cx="2055793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Flag of India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Flag of India - Wikipedi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2" name="Picture 8" descr="Indian flag Images - Free Download on Freepik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04" t="19298" r="15768" b="19298"/>
          <a:stretch/>
        </p:blipFill>
        <p:spPr bwMode="auto">
          <a:xfrm>
            <a:off x="460375" y="4952999"/>
            <a:ext cx="204413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ile:India China 453x302px.png - Wikimedia Comm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001578"/>
            <a:ext cx="2057399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esktop Computer Icon Images – Browse 17,478,516 Stock Photos, Vectors, and  Video | Adobe Stock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0" y="3830128"/>
            <a:ext cx="2667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>
            <a:stCxn id="1026" idx="3"/>
            <a:endCxn id="1034" idx="1"/>
          </p:cNvCxnSpPr>
          <p:nvPr/>
        </p:nvCxnSpPr>
        <p:spPr>
          <a:xfrm>
            <a:off x="2516168" y="3830128"/>
            <a:ext cx="684232" cy="857250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1032" idx="3"/>
            <a:endCxn id="1034" idx="1"/>
          </p:cNvCxnSpPr>
          <p:nvPr/>
        </p:nvCxnSpPr>
        <p:spPr>
          <a:xfrm flipV="1">
            <a:off x="2504505" y="4687378"/>
            <a:ext cx="695895" cy="951421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034" idx="3"/>
            <a:endCxn id="1036" idx="1"/>
          </p:cNvCxnSpPr>
          <p:nvPr/>
        </p:nvCxnSpPr>
        <p:spPr>
          <a:xfrm>
            <a:off x="5257799" y="4687378"/>
            <a:ext cx="876301" cy="0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631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143000"/>
            <a:ext cx="8534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2400" dirty="0"/>
              <a:t>Панельная регрессия </a:t>
            </a:r>
            <a:r>
              <a:rPr lang="ru-RU" sz="2400" dirty="0" smtClean="0"/>
              <a:t>со </a:t>
            </a:r>
            <a:r>
              <a:rPr lang="ru-RU" sz="2400" dirty="0"/>
              <a:t>случайными эффектами </a:t>
            </a:r>
            <a:endParaRPr lang="ru-RU" sz="24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ru-RU" sz="2400" b="1" dirty="0" smtClean="0"/>
              <a:t>(</a:t>
            </a:r>
            <a:r>
              <a:rPr lang="ru-RU" sz="2400" b="1" dirty="0"/>
              <a:t>Random Effects)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ru-RU" sz="2400" dirty="0"/>
              <a:t>которая предполагает, что различия между отдельными странами носят случайный характер, т.е. существуют как общие, так и индивидуальные константы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3810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+mj-lt"/>
              </a:rPr>
              <a:t>Данные были проанализированы с использованием различных регрессионных моделей</a:t>
            </a:r>
            <a:endParaRPr lang="en-US" sz="2400" b="1" dirty="0">
              <a:latin typeface="+mj-lt"/>
            </a:endParaRPr>
          </a:p>
        </p:txBody>
      </p:sp>
      <p:pic>
        <p:nvPicPr>
          <p:cNvPr id="4" name="Picture 2" descr="File:Flag of the People's Republic of China.svg - Wikimedia Comm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144328"/>
            <a:ext cx="2055793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Indian flag Images - Free Download on Freepik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04" t="19298" r="15768" b="19298"/>
          <a:stretch/>
        </p:blipFill>
        <p:spPr bwMode="auto">
          <a:xfrm>
            <a:off x="460375" y="4952999"/>
            <a:ext cx="204413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File:India China 453x302px.png - Wikimedia Comm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001578"/>
            <a:ext cx="2057399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Desktop Computer Icon Images – Browse 17,478,516 Stock Photos, Vectors, and  Video | Adobe Stock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0" y="3830128"/>
            <a:ext cx="2667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>
            <a:stCxn id="4" idx="3"/>
            <a:endCxn id="6" idx="1"/>
          </p:cNvCxnSpPr>
          <p:nvPr/>
        </p:nvCxnSpPr>
        <p:spPr>
          <a:xfrm>
            <a:off x="2516168" y="3830128"/>
            <a:ext cx="684232" cy="857250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3"/>
            <a:endCxn id="6" idx="1"/>
          </p:cNvCxnSpPr>
          <p:nvPr/>
        </p:nvCxnSpPr>
        <p:spPr>
          <a:xfrm flipV="1">
            <a:off x="2504505" y="4687378"/>
            <a:ext cx="695895" cy="951421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3"/>
            <a:endCxn id="7" idx="1"/>
          </p:cNvCxnSpPr>
          <p:nvPr/>
        </p:nvCxnSpPr>
        <p:spPr>
          <a:xfrm>
            <a:off x="5257799" y="4687378"/>
            <a:ext cx="876301" cy="0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5" idx="3"/>
            <a:endCxn id="7" idx="1"/>
          </p:cNvCxnSpPr>
          <p:nvPr/>
        </p:nvCxnSpPr>
        <p:spPr>
          <a:xfrm flipV="1">
            <a:off x="2504505" y="4687378"/>
            <a:ext cx="3629595" cy="951421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4" idx="3"/>
            <a:endCxn id="7" idx="1"/>
          </p:cNvCxnSpPr>
          <p:nvPr/>
        </p:nvCxnSpPr>
        <p:spPr>
          <a:xfrm>
            <a:off x="2516168" y="3830128"/>
            <a:ext cx="3617932" cy="857250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981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143000"/>
            <a:ext cx="8534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2400" dirty="0"/>
              <a:t>Панельная регрессия </a:t>
            </a:r>
            <a:r>
              <a:rPr lang="ru-RU" sz="2400" dirty="0" smtClean="0"/>
              <a:t>с </a:t>
            </a:r>
            <a:r>
              <a:rPr lang="ru-RU" sz="2400" dirty="0"/>
              <a:t>фиксированными эффектами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b="1" dirty="0" smtClean="0"/>
              <a:t>(</a:t>
            </a:r>
            <a:r>
              <a:rPr lang="ru-RU" sz="2400" b="1" dirty="0"/>
              <a:t>Fixed Effects</a:t>
            </a:r>
            <a:r>
              <a:rPr lang="ru-RU" sz="2400" b="1" dirty="0" smtClean="0"/>
              <a:t>)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ru-RU" sz="2400" dirty="0"/>
              <a:t>учитывающая неуказанные индивидуальные различия между странами, т.е. каждая страна имеет свою собственную </a:t>
            </a:r>
            <a:r>
              <a:rPr lang="ru-RU" sz="2400" dirty="0" smtClean="0"/>
              <a:t>константу</a:t>
            </a:r>
            <a:endParaRPr lang="en-US" sz="24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228600" y="3810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+mj-lt"/>
              </a:rPr>
              <a:t>Данные были проанализированы с использованием различных регрессионных моделей</a:t>
            </a:r>
            <a:endParaRPr lang="en-US" sz="2400" b="1" dirty="0">
              <a:latin typeface="+mj-lt"/>
            </a:endParaRPr>
          </a:p>
        </p:txBody>
      </p:sp>
      <p:pic>
        <p:nvPicPr>
          <p:cNvPr id="4" name="Picture 2" descr="File:Flag of the People's Republic of China.svg - Wikimedia Comm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144328"/>
            <a:ext cx="2055793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Indian flag Images - Free Download on Freepik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04" t="19298" r="15768" b="19298"/>
          <a:stretch/>
        </p:blipFill>
        <p:spPr bwMode="auto">
          <a:xfrm>
            <a:off x="1828800" y="4952999"/>
            <a:ext cx="204413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Desktop Computer Icon Images – Browse 17,478,516 Stock Photos, Vectors, and  Video | Adobe Sto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944427"/>
            <a:ext cx="2667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>
            <a:stCxn id="4" idx="3"/>
            <a:endCxn id="7" idx="1"/>
          </p:cNvCxnSpPr>
          <p:nvPr/>
        </p:nvCxnSpPr>
        <p:spPr>
          <a:xfrm>
            <a:off x="3884593" y="3830128"/>
            <a:ext cx="992207" cy="971549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3"/>
            <a:endCxn id="7" idx="1"/>
          </p:cNvCxnSpPr>
          <p:nvPr/>
        </p:nvCxnSpPr>
        <p:spPr>
          <a:xfrm flipV="1">
            <a:off x="3872930" y="4801677"/>
            <a:ext cx="1003870" cy="837122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981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143000"/>
            <a:ext cx="8534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2400" dirty="0"/>
              <a:t>Панельная регрессия </a:t>
            </a:r>
            <a:r>
              <a:rPr lang="ru-RU" sz="2400" dirty="0" smtClean="0"/>
              <a:t>с двухфакторными фиксированными эффектами </a:t>
            </a:r>
            <a:r>
              <a:rPr lang="ru-RU" sz="2400" b="1" dirty="0" smtClean="0"/>
              <a:t>(</a:t>
            </a:r>
            <a:r>
              <a:rPr lang="ru-RU" sz="2400" b="1" dirty="0"/>
              <a:t>Two-Way Fixed Effects</a:t>
            </a:r>
            <a:r>
              <a:rPr lang="ru-RU" sz="2400" b="1" dirty="0" smtClean="0"/>
              <a:t>)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ru-RU" sz="2400" dirty="0"/>
              <a:t>учитывающая неуказанные индивидуальные различия между странами и временными периодами, то есть каждая страна и каждый год имеют свою собственную константу</a:t>
            </a:r>
            <a:endParaRPr lang="en-US" sz="24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228600" y="3810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+mj-lt"/>
              </a:rPr>
              <a:t>Данные были проанализированы с использованием различных регрессионных моделей</a:t>
            </a:r>
            <a:endParaRPr lang="en-US" sz="2400" b="1" dirty="0">
              <a:latin typeface="+mj-lt"/>
            </a:endParaRPr>
          </a:p>
        </p:txBody>
      </p:sp>
      <p:pic>
        <p:nvPicPr>
          <p:cNvPr id="1026" name="Picture 2" descr="The Ultimate Wall Clock, 14&quot; Atomic Wall Clock, Black, Easy to Read,  Perfect for Home, Office, School, Indoor/Outdoor… : Amazon.co.uk: CDs &amp;  Viny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0" y="35052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981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351598"/>
      </p:ext>
    </p:extLst>
  </p:cSld>
  <p:clrMapOvr>
    <a:masterClrMapping/>
  </p:clrMapOvr>
</p:sld>
</file>

<file path=ppt/theme/theme1.xml><?xml version="1.0" encoding="utf-8"?>
<a:theme xmlns:a="http://schemas.openxmlformats.org/drawingml/2006/main" name="Composite">
  <a:themeElements>
    <a:clrScheme name="Composite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Composi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os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68</TotalTime>
  <Words>145</Words>
  <Application>Microsoft Office PowerPoint</Application>
  <PresentationFormat>On-screen Show (4:3)</PresentationFormat>
  <Paragraphs>28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Composite</vt:lpstr>
      <vt:lpstr>Влияние фондового рынка и банковской системы на экономический рост: панельный анализ  Китая и Индии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Влияние фондового рынка и банковской системы  на экономический рост: панельный анализ  Китая и Индии</dc:title>
  <dc:creator>Boris Klyukin</dc:creator>
  <cp:lastModifiedBy>Boris Klyukin</cp:lastModifiedBy>
  <cp:revision>10</cp:revision>
  <dcterms:created xsi:type="dcterms:W3CDTF">2026-04-18T08:14:09Z</dcterms:created>
  <dcterms:modified xsi:type="dcterms:W3CDTF">2026-04-18T09:26:52Z</dcterms:modified>
</cp:coreProperties>
</file>