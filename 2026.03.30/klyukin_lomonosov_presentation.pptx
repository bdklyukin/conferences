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96" r:id="rId3"/>
    <p:sldId id="297" r:id="rId4"/>
    <p:sldId id="298" r:id="rId5"/>
    <p:sldId id="281" r:id="rId6"/>
    <p:sldId id="285" r:id="rId7"/>
    <p:sldId id="294" r:id="rId8"/>
    <p:sldId id="287" r:id="rId9"/>
    <p:sldId id="289" r:id="rId10"/>
    <p:sldId id="295" r:id="rId11"/>
    <p:sldId id="290" r:id="rId12"/>
    <p:sldId id="291" r:id="rId13"/>
    <p:sldId id="280" r:id="rId14"/>
    <p:sldId id="257" r:id="rId15"/>
    <p:sldId id="258" r:id="rId16"/>
    <p:sldId id="259" r:id="rId17"/>
    <p:sldId id="270" r:id="rId18"/>
    <p:sldId id="260" r:id="rId19"/>
    <p:sldId id="261" r:id="rId20"/>
    <p:sldId id="262" r:id="rId21"/>
    <p:sldId id="271" r:id="rId22"/>
    <p:sldId id="264" r:id="rId23"/>
    <p:sldId id="263" r:id="rId24"/>
    <p:sldId id="277" r:id="rId25"/>
    <p:sldId id="279" r:id="rId26"/>
    <p:sldId id="274" r:id="rId27"/>
    <p:sldId id="275" r:id="rId28"/>
    <p:sldId id="276" r:id="rId29"/>
    <p:sldId id="272" r:id="rId30"/>
    <p:sldId id="266" r:id="rId31"/>
    <p:sldId id="265" r:id="rId32"/>
    <p:sldId id="273" r:id="rId33"/>
    <p:sldId id="267" r:id="rId34"/>
    <p:sldId id="268" r:id="rId35"/>
    <p:sldId id="282" r:id="rId36"/>
    <p:sldId id="283" r:id="rId37"/>
    <p:sldId id="284" r:id="rId38"/>
  </p:sldIdLst>
  <p:sldSz cx="10160000" cy="5715000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 userDrawn="1">
          <p15:clr>
            <a:srgbClr val="A4A3A4"/>
          </p15:clr>
        </p15:guide>
        <p15:guide id="2" pos="320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FF66"/>
    <a:srgbClr val="FF8669"/>
    <a:srgbClr val="FF6600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070" autoAdjust="0"/>
    <p:restoredTop sz="94622" autoAdjust="0"/>
  </p:normalViewPr>
  <p:slideViewPr>
    <p:cSldViewPr>
      <p:cViewPr varScale="1">
        <p:scale>
          <a:sx n="130" d="100"/>
          <a:sy n="130" d="100"/>
        </p:scale>
        <p:origin x="462" y="120"/>
      </p:cViewPr>
      <p:guideLst>
        <p:guide orient="horz" pos="1800"/>
        <p:guide pos="3200"/>
      </p:guideLst>
    </p:cSldViewPr>
  </p:slideViewPr>
  <p:outlineViewPr>
    <p:cViewPr>
      <p:scale>
        <a:sx n="33" d="100"/>
        <a:sy n="33" d="100"/>
      </p:scale>
      <p:origin x="54" y="2004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468923" y="1143000"/>
            <a:ext cx="9144000" cy="1524000"/>
          </a:xfrm>
        </p:spPr>
        <p:txBody>
          <a:bodyPr vert="horz" lIns="45720" tIns="0" rIns="45720" bIns="0" anchor="b">
            <a:normAutofit/>
            <a:scene3d>
              <a:camera prst="orthographicFront"/>
              <a:lightRig rig="soft" dir="t">
                <a:rot lat="0" lon="0" rev="17220000"/>
              </a:lightRig>
            </a:scene3d>
            <a:sp3d prstMaterial="softEdge">
              <a:bevelT w="38100" h="38100"/>
            </a:sp3d>
          </a:bodyPr>
          <a:lstStyle>
            <a:lvl1pPr>
              <a:defRPr sz="4800" b="1" cap="all" baseline="0">
                <a:ln w="6350">
                  <a:noFill/>
                </a:ln>
                <a:gradFill>
                  <a:gsLst>
                    <a:gs pos="0">
                      <a:schemeClr val="accent1">
                        <a:tint val="73000"/>
                        <a:satMod val="145000"/>
                      </a:schemeClr>
                    </a:gs>
                    <a:gs pos="73000">
                      <a:schemeClr val="accent1">
                        <a:tint val="73000"/>
                        <a:satMod val="145000"/>
                      </a:schemeClr>
                    </a:gs>
                    <a:gs pos="100000">
                      <a:schemeClr val="accent1">
                        <a:tint val="83000"/>
                        <a:satMod val="143000"/>
                      </a:schemeClr>
                    </a:gs>
                  </a:gsLst>
                  <a:lin ang="4800000" scaled="1"/>
                </a:gradFill>
                <a:effectLst>
                  <a:outerShdw blurRad="127000" dist="200000" dir="2700000" algn="tl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524000" y="2776415"/>
            <a:ext cx="7112000" cy="14605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189" indent="0" algn="ctr">
              <a:buNone/>
            </a:lvl2pPr>
            <a:lvl3pPr marL="914377" indent="0" algn="ctr">
              <a:buNone/>
            </a:lvl3pPr>
            <a:lvl4pPr marL="1371566" indent="0" algn="ctr">
              <a:buNone/>
            </a:lvl4pPr>
            <a:lvl5pPr marL="1828754" indent="0" algn="ctr">
              <a:buNone/>
            </a:lvl5pPr>
            <a:lvl6pPr marL="2285943" indent="0" algn="ctr">
              <a:buNone/>
            </a:lvl6pPr>
            <a:lvl7pPr marL="2743131" indent="0" algn="ctr">
              <a:buNone/>
            </a:lvl7pPr>
            <a:lvl8pPr marL="3200320" indent="0" algn="ctr">
              <a:buNone/>
            </a:lvl8pPr>
            <a:lvl9pPr marL="3657509" indent="0" algn="ctr">
              <a:buNone/>
            </a:lvl9pPr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78000" y="508000"/>
            <a:ext cx="7874000" cy="1524000"/>
          </a:xfrm>
        </p:spPr>
        <p:txBody>
          <a:bodyPr vert="horz" bIns="0" anchor="b">
            <a:noAutofit/>
            <a:scene3d>
              <a:camera prst="orthographicFront"/>
              <a:lightRig rig="soft" dir="t">
                <a:rot lat="0" lon="0" rev="17220000"/>
              </a:lightRig>
            </a:scene3d>
            <a:sp3d prstMaterial="softEdge">
              <a:bevelT w="38100" h="38100"/>
              <a:contourClr>
                <a:schemeClr val="tx2">
                  <a:shade val="50000"/>
                </a:schemeClr>
              </a:contourClr>
            </a:sp3d>
          </a:bodyPr>
          <a:lstStyle>
            <a:lvl1pPr algn="l" rtl="0">
              <a:spcBef>
                <a:spcPct val="0"/>
              </a:spcBef>
              <a:buNone/>
              <a:defRPr sz="4800" b="1" cap="none" baseline="0">
                <a:ln w="6350">
                  <a:noFill/>
                </a:ln>
                <a:solidFill>
                  <a:schemeClr val="accent1">
                    <a:tint val="90000"/>
                    <a:satMod val="120000"/>
                  </a:schemeClr>
                </a:solidFill>
                <a:effectLst>
                  <a:outerShdw blurRad="114300" dist="101600" dir="2700000" algn="tl" rotWithShape="0">
                    <a:srgbClr val="000000">
                      <a:alpha val="4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8000" y="2089829"/>
            <a:ext cx="7874000" cy="1258093"/>
          </a:xfrm>
        </p:spPr>
        <p:txBody>
          <a:bodyPr anchor="t"/>
          <a:lstStyle>
            <a:lvl1pPr marL="73150" indent="0" algn="l">
              <a:buNone/>
              <a:defRPr sz="20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805333" y="5347237"/>
            <a:ext cx="846667" cy="304271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0" y="1333500"/>
            <a:ext cx="4487333" cy="3771636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64670" y="1333500"/>
            <a:ext cx="4487333" cy="3771636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27542"/>
            <a:ext cx="9144000" cy="9525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3" y="1279263"/>
            <a:ext cx="4489099" cy="625739"/>
          </a:xfrm>
        </p:spPr>
        <p:txBody>
          <a:bodyPr anchor="ctr"/>
          <a:lstStyle>
            <a:lvl1pPr marL="0" indent="0">
              <a:buNone/>
              <a:defRPr sz="2400" b="0" cap="all" baseline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5161144" y="1279263"/>
            <a:ext cx="4490861" cy="625739"/>
          </a:xfrm>
        </p:spPr>
        <p:txBody>
          <a:bodyPr anchor="ctr"/>
          <a:lstStyle>
            <a:lvl1pPr marL="0" indent="0">
              <a:buNone/>
              <a:defRPr sz="2400" b="0" cap="all" baseline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508003" y="1968500"/>
            <a:ext cx="4489099" cy="3136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61144" y="1968500"/>
            <a:ext cx="4490861" cy="3136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27549"/>
            <a:ext cx="3342571" cy="968375"/>
          </a:xfrm>
        </p:spPr>
        <p:txBody>
          <a:bodyPr vert="horz" anchor="b">
            <a:normAutofit/>
            <a:sp3d prstMaterial="softEdge"/>
          </a:bodyPr>
          <a:lstStyle>
            <a:lvl1pPr algn="l">
              <a:buNone/>
              <a:defRPr sz="2200" b="0">
                <a:ln w="6350">
                  <a:noFill/>
                </a:ln>
                <a:solidFill>
                  <a:schemeClr val="accent1">
                    <a:tint val="73000"/>
                    <a:satMod val="180000"/>
                  </a:schemeClr>
                </a:solidFill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508001" y="1270000"/>
            <a:ext cx="3342571" cy="3835136"/>
          </a:xfrm>
        </p:spPr>
        <p:txBody>
          <a:bodyPr/>
          <a:lstStyle>
            <a:lvl1pPr marL="0" indent="0"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3972280" y="227542"/>
            <a:ext cx="5679723" cy="4877594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200"/>
            </a:lvl3pPr>
            <a:lvl4pPr>
              <a:defRPr sz="2000"/>
            </a:lvl4pPr>
            <a:lvl5pPr>
              <a:defRPr sz="18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2000" y="508000"/>
            <a:ext cx="6096000" cy="435240"/>
          </a:xfrm>
        </p:spPr>
        <p:txBody>
          <a:bodyPr lIns="45720" rIns="45720" bIns="0" anchor="b">
            <a:sp3d prstMaterial="softEdge"/>
          </a:bodyPr>
          <a:lstStyle>
            <a:lvl1pPr algn="ctr">
              <a:buNone/>
              <a:defRPr sz="2000" b="1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32000" y="1526646"/>
            <a:ext cx="6096000" cy="3302000"/>
          </a:xfrm>
          <a:solidFill>
            <a:schemeClr val="bg2"/>
          </a:solidFill>
          <a:ln w="44450" cap="sq" cmpd="sng" algn="ctr">
            <a:solidFill>
              <a:srgbClr val="FFFFFF"/>
            </a:solidFill>
            <a:prstDash val="solid"/>
            <a:miter lim="800000"/>
          </a:ln>
          <a:effectLst>
            <a:outerShdw blurRad="190500" dist="228600" dir="2700000" sy="90000">
              <a:srgbClr val="000000">
                <a:alpha val="25000"/>
              </a:srgbClr>
            </a:outerShdw>
          </a:effectLst>
          <a:scene3d>
            <a:camera prst="orthographicFront">
              <a:rot lat="0" lon="0" rev="0"/>
            </a:camera>
            <a:lightRig rig="balanced" dir="tr">
              <a:rot lat="0" lon="0" rev="2700000"/>
            </a:lightRig>
          </a:scene3d>
          <a:sp3d prstMaterial="matte">
            <a:contourClr>
              <a:schemeClr val="tx2">
                <a:shade val="50000"/>
              </a:schemeClr>
            </a:contourClr>
          </a:sp3d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/>
          <a:lstStyle>
            <a:lvl1pPr marL="0" indent="0" algn="l" rtl="0" eaLnBrk="1" latinLnBrk="0" hangingPunct="1">
              <a:buNone/>
              <a:defRPr sz="3200"/>
            </a:lvl1pPr>
          </a:lstStyle>
          <a:p>
            <a:pPr marL="0" algn="l" rtl="0" eaLnBrk="1" latinLnBrk="0" hangingPunct="1"/>
            <a:r>
              <a:rPr kumimoji="0" lang="en-US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Click icon to add picture</a:t>
            </a:r>
            <a:endParaRPr kumimoji="0" lang="en-US" dirty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32000" y="972323"/>
            <a:ext cx="6096000" cy="441960"/>
          </a:xfrm>
        </p:spPr>
        <p:txBody>
          <a:bodyPr lIns="45720" tIns="45720" rIns="45720" anchor="t"/>
          <a:lstStyle>
            <a:lvl1pPr marL="0" indent="0" algn="ct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66000" y="228872"/>
            <a:ext cx="2286000" cy="4876271"/>
          </a:xfrm>
        </p:spPr>
        <p:txBody>
          <a:bodyPr vert="eaVert"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2" y="228872"/>
            <a:ext cx="6688667" cy="4876271"/>
          </a:xfrm>
        </p:spPr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508000" y="228865"/>
            <a:ext cx="9144000" cy="9525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>
                <a:rot lat="0" lon="0" rev="16800000"/>
              </a:lightRig>
            </a:scene3d>
            <a:sp3d prstMaterial="softEdge">
              <a:bevelT w="38100" h="38100"/>
            </a:sp3d>
          </a:bodyPr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508000" y="1333500"/>
            <a:ext cx="9144000" cy="3924300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508003" y="5347237"/>
            <a:ext cx="2370667" cy="304271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200">
                <a:solidFill>
                  <a:schemeClr val="tx1">
                    <a:shade val="50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3471336" y="5347237"/>
            <a:ext cx="3217333" cy="304271"/>
          </a:xfrm>
          <a:prstGeom prst="rect">
            <a:avLst/>
          </a:prstGeom>
        </p:spPr>
        <p:txBody>
          <a:bodyPr vert="horz" anchor="b"/>
          <a:lstStyle>
            <a:lvl1pPr algn="ctr" eaLnBrk="1" latinLnBrk="0" hangingPunct="1">
              <a:defRPr kumimoji="0" sz="1200">
                <a:solidFill>
                  <a:schemeClr val="tx1">
                    <a:shade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805333" y="5347237"/>
            <a:ext cx="846667" cy="304271"/>
          </a:xfrm>
          <a:prstGeom prst="rect">
            <a:avLst/>
          </a:prstGeom>
        </p:spPr>
        <p:txBody>
          <a:bodyPr vert="horz" lIns="0" rIns="0" anchor="b"/>
          <a:lstStyle>
            <a:lvl1pPr algn="r" eaLnBrk="1" latinLnBrk="0" hangingPunct="1">
              <a:defRPr kumimoji="0" sz="1200">
                <a:solidFill>
                  <a:schemeClr val="tx1">
                    <a:shade val="50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rtl="0" eaLnBrk="1" latinLnBrk="0" hangingPunct="1">
        <a:spcBef>
          <a:spcPct val="0"/>
        </a:spcBef>
        <a:buNone/>
        <a:defRPr kumimoji="0" sz="4100" b="1" kern="1200" cap="none" baseline="0">
          <a:ln w="6350">
            <a:noFill/>
          </a:ln>
          <a:gradFill>
            <a:gsLst>
              <a:gs pos="0">
                <a:schemeClr val="accent1">
                  <a:tint val="73000"/>
                  <a:satMod val="145000"/>
                </a:schemeClr>
              </a:gs>
              <a:gs pos="73000">
                <a:schemeClr val="accent1">
                  <a:tint val="73000"/>
                  <a:satMod val="145000"/>
                </a:schemeClr>
              </a:gs>
              <a:gs pos="100000">
                <a:schemeClr val="accent1">
                  <a:tint val="83000"/>
                  <a:satMod val="143000"/>
                </a:schemeClr>
              </a:gs>
            </a:gsLst>
            <a:lin ang="4800000" scaled="1"/>
          </a:gradFill>
          <a:effectLst>
            <a:outerShdw blurRad="114300" dist="101600" dir="2700000" algn="tl" rotWithShape="0">
              <a:srgbClr val="000000">
                <a:alpha val="40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548626" indent="-411470" algn="l" rtl="0" eaLnBrk="1" latinLnBrk="0" hangingPunct="1">
        <a:spcBef>
          <a:spcPct val="20000"/>
        </a:spcBef>
        <a:buClr>
          <a:schemeClr val="tx1">
            <a:shade val="95000"/>
          </a:schemeClr>
        </a:buClr>
        <a:buSzPct val="65000"/>
        <a:buFont typeface="Wingdings 2"/>
        <a:buChar char="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868658" indent="-283457" algn="l" rtl="0" eaLnBrk="1" latinLnBrk="0" hangingPunct="1">
        <a:spcBef>
          <a:spcPct val="20000"/>
        </a:spcBef>
        <a:buClr>
          <a:schemeClr val="tx1"/>
        </a:buClr>
        <a:buSzPct val="80000"/>
        <a:buFont typeface="Wingdings 2"/>
        <a:buChar char="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33828" indent="-228594" algn="l" rtl="0" eaLnBrk="1" latinLnBrk="0" hangingPunct="1">
        <a:spcBef>
          <a:spcPct val="20000"/>
        </a:spcBef>
        <a:buClr>
          <a:schemeClr val="tx1"/>
        </a:buClr>
        <a:buSzPct val="95000"/>
        <a:buFont typeface="Wingdings"/>
        <a:buChar char=""/>
        <a:defRPr kumimoji="0"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353278" indent="-182875" algn="l" rtl="0" eaLnBrk="1" latinLnBrk="0" hangingPunct="1">
        <a:spcBef>
          <a:spcPct val="20000"/>
        </a:spcBef>
        <a:buClr>
          <a:schemeClr val="tx1"/>
        </a:buClr>
        <a:buSzPct val="100000"/>
        <a:buFont typeface="Wingdings 3"/>
        <a:buChar char="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45297" indent="-182875" algn="l" rtl="0" eaLnBrk="1" latinLnBrk="0" hangingPunct="1">
        <a:spcBef>
          <a:spcPct val="20000"/>
        </a:spcBef>
        <a:buClr>
          <a:schemeClr val="tx1"/>
        </a:buClr>
        <a:buFont typeface="Wingdings 2"/>
        <a:buChar char="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764748" indent="-182875" algn="l" rtl="0" eaLnBrk="1" latinLnBrk="0" hangingPunct="1">
        <a:spcBef>
          <a:spcPct val="20000"/>
        </a:spcBef>
        <a:buClr>
          <a:schemeClr val="tx1"/>
        </a:buClr>
        <a:buFont typeface="Wingdings 3"/>
        <a:buChar char="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65911" indent="-182875" algn="l" rtl="0" eaLnBrk="1" latinLnBrk="0" hangingPunct="1">
        <a:spcBef>
          <a:spcPct val="20000"/>
        </a:spcBef>
        <a:buClr>
          <a:schemeClr val="tx1"/>
        </a:buClr>
        <a:buFont typeface="Wingdings 2"/>
        <a:buChar char="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167074" indent="-182875" algn="l" rtl="0" eaLnBrk="1" latinLnBrk="0" hangingPunct="1">
        <a:spcBef>
          <a:spcPct val="20000"/>
        </a:spcBef>
        <a:buClr>
          <a:schemeClr val="tx1"/>
        </a:buClr>
        <a:buFont typeface="Wingdings 2"/>
        <a:buChar char=""/>
        <a:defRPr kumimoji="0"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368237" indent="-182875" algn="l" rtl="0" eaLnBrk="1" latinLnBrk="0" hangingPunct="1">
        <a:spcBef>
          <a:spcPct val="20000"/>
        </a:spcBef>
        <a:buClr>
          <a:schemeClr val="tx1"/>
        </a:buClr>
        <a:buFont typeface="Wingdings 2"/>
        <a:buChar char=""/>
        <a:defRPr kumimoji="0"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30031" y="2628900"/>
            <a:ext cx="8229600" cy="1524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Сравнительный анализ вклада фондового рынка в экономику Республики Индия и Китайской Народной Республики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9600" y="4262315"/>
            <a:ext cx="6400800" cy="1460500"/>
          </a:xfrm>
        </p:spPr>
        <p:txBody>
          <a:bodyPr>
            <a:normAutofit fontScale="55000" lnSpcReduction="20000"/>
          </a:bodyPr>
          <a:lstStyle/>
          <a:p>
            <a:r>
              <a:rPr lang="ru-RU" dirty="0" smtClean="0"/>
              <a:t>Клюкин Б.Д.</a:t>
            </a:r>
            <a:endParaRPr lang="en-US" dirty="0" smtClean="0"/>
          </a:p>
          <a:p>
            <a:r>
              <a:rPr lang="ru-RU" dirty="0" smtClean="0"/>
              <a:t>ИСАА МГУ им. М.В.Ломоносова, аспирант кафедры международных экономических отношений стран Азии и Африки</a:t>
            </a:r>
            <a:endParaRPr lang="en-US" dirty="0" smtClean="0"/>
          </a:p>
          <a:p>
            <a:r>
              <a:rPr lang="ru-RU" dirty="0" smtClean="0"/>
              <a:t>Фонда Развития Промышленности, Старший аналитик департамента анализа экономики промышленности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41800" y="5399901"/>
            <a:ext cx="1676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>
                <a:solidFill>
                  <a:schemeClr val="tx1">
                    <a:lumMod val="75000"/>
                  </a:schemeClr>
                </a:solidFill>
              </a:rPr>
              <a:t>МОСКВА,</a:t>
            </a:r>
            <a:r>
              <a:rPr lang="en-US" sz="1200" dirty="0" smtClean="0">
                <a:solidFill>
                  <a:schemeClr val="tx1">
                    <a:lumMod val="75000"/>
                  </a:schemeClr>
                </a:solidFill>
              </a:rPr>
              <a:t> 30</a:t>
            </a:r>
            <a:r>
              <a:rPr lang="ru-RU" sz="1200" dirty="0" smtClean="0">
                <a:solidFill>
                  <a:schemeClr val="tx1">
                    <a:lumMod val="75000"/>
                  </a:schemeClr>
                </a:solidFill>
              </a:rPr>
              <a:t>.</a:t>
            </a:r>
            <a:r>
              <a:rPr lang="en-US" sz="1200" dirty="0" smtClean="0">
                <a:solidFill>
                  <a:schemeClr val="tx1">
                    <a:lumMod val="75000"/>
                  </a:schemeClr>
                </a:solidFill>
              </a:rPr>
              <a:t>03</a:t>
            </a:r>
            <a:r>
              <a:rPr lang="ru-RU" sz="1200" dirty="0" smtClean="0">
                <a:solidFill>
                  <a:schemeClr val="tx1">
                    <a:lumMod val="75000"/>
                  </a:schemeClr>
                </a:solidFill>
              </a:rPr>
              <a:t>.202</a:t>
            </a:r>
            <a:r>
              <a:rPr lang="en-US" sz="1200" dirty="0" smtClean="0">
                <a:solidFill>
                  <a:schemeClr val="tx1">
                    <a:lumMod val="75000"/>
                  </a:schemeClr>
                </a:solidFill>
              </a:rPr>
              <a:t>6</a:t>
            </a:r>
            <a:endParaRPr lang="ru-RU" sz="1200" dirty="0">
              <a:solidFill>
                <a:schemeClr val="tx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6343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Обоснование </a:t>
            </a:r>
            <a:r>
              <a:rPr lang="ru-RU" dirty="0"/>
              <a:t>исследования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08200" y="2089828"/>
            <a:ext cx="6324600" cy="1258093"/>
          </a:xfrm>
        </p:spPr>
        <p:txBody>
          <a:bodyPr>
            <a:noAutofit/>
          </a:bodyPr>
          <a:lstStyle/>
          <a:p>
            <a:pPr algn="just"/>
            <a:r>
              <a:rPr lang="ru-RU" dirty="0"/>
              <a:t>Взаимосвязь между развитием финансового сектора и экономическим ростом остается предметом активных теоретических и эмпирических дискуссий. Несмотря на общее признание важности устойчивой финансовой системы, конкретное влияние фондовых рынков на экономику трактуется неоднозначно</a:t>
            </a:r>
            <a:r>
              <a:rPr lang="ru-RU" dirty="0" smtClean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90128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Проблемы с литературой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08200" y="2089828"/>
            <a:ext cx="6324600" cy="1258093"/>
          </a:xfrm>
        </p:spPr>
        <p:txBody>
          <a:bodyPr>
            <a:noAutofit/>
          </a:bodyPr>
          <a:lstStyle/>
          <a:p>
            <a:pPr algn="just"/>
            <a:r>
              <a:rPr lang="ru-RU" dirty="0"/>
              <a:t>Многие существующие исследования прибегающие к методологии векторной авторегрессии сфокусированы исключительно на переменных фондового рынка игнорируя другие факторы также играющие важную роль в экономике каждой страны. Это является ошибкой спецификации модели, что нарушает условие </a:t>
            </a:r>
            <a:r>
              <a:rPr lang="ru-RU" dirty="0" err="1"/>
              <a:t>экзогенности</a:t>
            </a:r>
            <a:r>
              <a:rPr lang="ru-RU" dirty="0"/>
              <a:t>, приводя к смещенным и несостоятельным оценкам коэффициентов.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1616551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Учет недостатков </a:t>
            </a:r>
            <a:br>
              <a:rPr lang="ru-RU" dirty="0"/>
            </a:br>
            <a:r>
              <a:rPr lang="ru-RU" dirty="0"/>
              <a:t>и новизна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08200" y="2089828"/>
            <a:ext cx="6324600" cy="1258093"/>
          </a:xfrm>
        </p:spPr>
        <p:txBody>
          <a:bodyPr>
            <a:noAutofit/>
          </a:bodyPr>
          <a:lstStyle/>
          <a:p>
            <a:pPr algn="just"/>
            <a:r>
              <a:rPr lang="ru-RU" dirty="0"/>
              <a:t>В данном исследовании автор, помимо переменной фондового рынка, включил в </a:t>
            </a:r>
            <a:r>
              <a:rPr lang="ru-RU" dirty="0" smtClean="0"/>
              <a:t>модель </a:t>
            </a:r>
            <a:r>
              <a:rPr lang="ru-RU" dirty="0"/>
              <a:t>показатели долга и экспорта.</a:t>
            </a:r>
          </a:p>
          <a:p>
            <a:pPr algn="just"/>
            <a:r>
              <a:rPr lang="ru-RU" dirty="0"/>
              <a:t>Кроме того, чтобы избежать ненужных предположений </a:t>
            </a:r>
            <a:br>
              <a:rPr lang="ru-RU" dirty="0"/>
            </a:br>
            <a:r>
              <a:rPr lang="ru-RU" dirty="0"/>
              <a:t>об однородности, автор рассчитывал модели индивидуально для каждой страны.</a:t>
            </a:r>
          </a:p>
          <a:p>
            <a:pPr algn="just"/>
            <a:r>
              <a:rPr lang="ru-RU" dirty="0"/>
              <a:t>Наконец, автор использовал более свежие и полные данные, чем многие предыдущие авторы.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12462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4400" dirty="0"/>
              <a:t>Выводы (1)</a:t>
            </a:r>
            <a:endParaRPr lang="en-US" sz="4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8000" y="2089829"/>
            <a:ext cx="7721600" cy="1258093"/>
          </a:xfrm>
        </p:spPr>
        <p:txBody>
          <a:bodyPr>
            <a:noAutofit/>
          </a:bodyPr>
          <a:lstStyle/>
          <a:p>
            <a:pPr marL="416042" indent="-342891" algn="just">
              <a:buFont typeface="Arial" panose="020B0604020202020204" pitchFamily="34" charset="0"/>
              <a:buChar char="•"/>
            </a:pPr>
            <a:r>
              <a:rPr lang="ru-RU" dirty="0" smtClean="0"/>
              <a:t>Долгосрочный тренд </a:t>
            </a:r>
            <a:r>
              <a:rPr lang="ru-RU" dirty="0"/>
              <a:t>совместного </a:t>
            </a:r>
            <a:r>
              <a:rPr lang="ru-RU" dirty="0" smtClean="0"/>
              <a:t>роста (</a:t>
            </a:r>
            <a:r>
              <a:rPr lang="ru-RU" dirty="0" err="1" smtClean="0"/>
              <a:t>коинтеграция</a:t>
            </a:r>
            <a:r>
              <a:rPr lang="ru-RU" dirty="0" smtClean="0"/>
              <a:t>):</a:t>
            </a:r>
          </a:p>
          <a:p>
            <a:pPr marL="870945" lvl="1" indent="-285744" algn="just">
              <a:buFont typeface="Arial" panose="020B0604020202020204" pitchFamily="34" charset="0"/>
              <a:buChar char="•"/>
            </a:pPr>
            <a:r>
              <a:rPr lang="ru-RU" dirty="0" smtClean="0"/>
              <a:t>В </a:t>
            </a:r>
            <a:r>
              <a:rPr lang="ru-RU" b="1" dirty="0" smtClean="0"/>
              <a:t>Индии</a:t>
            </a:r>
            <a:r>
              <a:rPr lang="ru-RU" dirty="0" smtClean="0"/>
              <a:t>: экономика растет совместно с рыночной капитализацией.</a:t>
            </a:r>
          </a:p>
          <a:p>
            <a:pPr marL="870945" lvl="1" indent="-285744" algn="just">
              <a:buFont typeface="Arial" panose="020B0604020202020204" pitchFamily="34" charset="0"/>
              <a:buChar char="•"/>
            </a:pPr>
            <a:r>
              <a:rPr lang="ru-RU" dirty="0" smtClean="0"/>
              <a:t>В</a:t>
            </a:r>
            <a:r>
              <a:rPr lang="ru-RU" dirty="0"/>
              <a:t> </a:t>
            </a:r>
            <a:r>
              <a:rPr lang="ru-RU" b="1" dirty="0"/>
              <a:t>Китае</a:t>
            </a:r>
            <a:r>
              <a:rPr lang="ru-RU" dirty="0"/>
              <a:t>: экономика растет совместно с задолженностью.</a:t>
            </a:r>
          </a:p>
          <a:p>
            <a:pPr marL="416042" indent="-342891" algn="just">
              <a:buFont typeface="Arial" panose="020B0604020202020204" pitchFamily="34" charset="0"/>
              <a:buChar char="•"/>
            </a:pPr>
            <a:r>
              <a:rPr lang="ru-RU" dirty="0"/>
              <a:t>Отсутствие долгосрочных связей не исключает значимых краткосрочных взаимодействий между переменными</a:t>
            </a:r>
            <a:r>
              <a:rPr lang="ru-RU" dirty="0" smtClean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23471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4400" dirty="0"/>
              <a:t>Выводы (2)</a:t>
            </a:r>
            <a:endParaRPr lang="en-US" sz="4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8000" y="2089829"/>
            <a:ext cx="7264400" cy="1258093"/>
          </a:xfrm>
        </p:spPr>
        <p:txBody>
          <a:bodyPr>
            <a:noAutofit/>
          </a:bodyPr>
          <a:lstStyle/>
          <a:p>
            <a:pPr marL="416042" indent="-342891" algn="just">
              <a:buFont typeface="Arial" panose="020B0604020202020204" pitchFamily="34" charset="0"/>
              <a:buChar char="•"/>
            </a:pPr>
            <a:r>
              <a:rPr lang="ru-RU" dirty="0"/>
              <a:t>Направление влияния на ВВП </a:t>
            </a:r>
            <a:r>
              <a:rPr lang="ru-RU" dirty="0" smtClean="0"/>
              <a:t>(кумулятивный отклик):</a:t>
            </a:r>
          </a:p>
          <a:p>
            <a:pPr marL="1211550" lvl="1" indent="-342891" algn="just">
              <a:buFont typeface="Arial" panose="020B0604020202020204" pitchFamily="34" charset="0"/>
              <a:buChar char="•"/>
            </a:pPr>
            <a:r>
              <a:rPr lang="ru-RU" b="1" dirty="0" smtClean="0"/>
              <a:t>В </a:t>
            </a:r>
            <a:r>
              <a:rPr lang="ru-RU" b="1" dirty="0"/>
              <a:t>Индии</a:t>
            </a:r>
            <a:r>
              <a:rPr lang="ru-RU" dirty="0"/>
              <a:t> положительное влияние на ВВП оказывают: рыночная капитализация, задолженность и экспорт </a:t>
            </a:r>
            <a:r>
              <a:rPr lang="ru-RU" dirty="0" smtClean="0"/>
              <a:t>товаров </a:t>
            </a:r>
            <a:r>
              <a:rPr lang="ru-RU" dirty="0"/>
              <a:t>и </a:t>
            </a:r>
            <a:r>
              <a:rPr lang="ru-RU" dirty="0" smtClean="0"/>
              <a:t>услуг.</a:t>
            </a:r>
          </a:p>
          <a:p>
            <a:pPr marL="1211550" lvl="1" indent="-342891" algn="just">
              <a:buFont typeface="Arial" panose="020B0604020202020204" pitchFamily="34" charset="0"/>
              <a:buChar char="•"/>
            </a:pPr>
            <a:r>
              <a:rPr lang="ru-RU" b="1" dirty="0" smtClean="0"/>
              <a:t>В </a:t>
            </a:r>
            <a:r>
              <a:rPr lang="ru-RU" b="1" dirty="0"/>
              <a:t>Китае</a:t>
            </a:r>
            <a:r>
              <a:rPr lang="ru-RU" dirty="0"/>
              <a:t> структура влияния аналогична, за исключением ключевого отличия: рыночная капитализация оказывает </a:t>
            </a:r>
            <a:r>
              <a:rPr lang="ru-RU" b="1" dirty="0"/>
              <a:t>отрицательное</a:t>
            </a:r>
            <a:r>
              <a:rPr lang="ru-RU" dirty="0"/>
              <a:t> влияние на ВВП</a:t>
            </a:r>
            <a:r>
              <a:rPr lang="ru-RU" dirty="0" smtClean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13119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4400" dirty="0"/>
              <a:t>Выводы (3)</a:t>
            </a:r>
            <a:endParaRPr lang="en-US" sz="4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pPr marL="416042" indent="-342891" algn="just">
              <a:buFont typeface="Arial" panose="020B0604020202020204" pitchFamily="34" charset="0"/>
              <a:buChar char="•"/>
            </a:pPr>
            <a:r>
              <a:rPr lang="ru-RU" dirty="0" smtClean="0"/>
              <a:t>Переменные (без учета вклада ВВП) объясняют больший </a:t>
            </a:r>
            <a:r>
              <a:rPr lang="ru-RU" dirty="0"/>
              <a:t>объем вариации ВВП в </a:t>
            </a:r>
            <a:r>
              <a:rPr lang="ru-RU" b="1" dirty="0"/>
              <a:t>Индии </a:t>
            </a:r>
            <a:r>
              <a:rPr lang="ru-RU" b="1" dirty="0" smtClean="0"/>
              <a:t>(</a:t>
            </a:r>
            <a:r>
              <a:rPr lang="en-US" b="1" dirty="0" smtClean="0"/>
              <a:t>~</a:t>
            </a:r>
            <a:r>
              <a:rPr lang="ru-RU" b="1" dirty="0" smtClean="0"/>
              <a:t>30</a:t>
            </a:r>
            <a:r>
              <a:rPr lang="ru-RU" b="1" dirty="0"/>
              <a:t>%)</a:t>
            </a:r>
            <a:r>
              <a:rPr lang="ru-RU" dirty="0"/>
              <a:t> , чем в </a:t>
            </a:r>
            <a:r>
              <a:rPr lang="ru-RU" b="1" dirty="0"/>
              <a:t>Китае </a:t>
            </a:r>
            <a:r>
              <a:rPr lang="ru-RU" b="1" dirty="0" smtClean="0"/>
              <a:t>(</a:t>
            </a:r>
            <a:r>
              <a:rPr lang="en-US" b="1" dirty="0" smtClean="0"/>
              <a:t>~</a:t>
            </a:r>
            <a:r>
              <a:rPr lang="ru-RU" b="1" dirty="0" smtClean="0"/>
              <a:t>10%)</a:t>
            </a:r>
            <a:r>
              <a:rPr lang="ru-RU" dirty="0" smtClean="0"/>
              <a:t>:</a:t>
            </a:r>
          </a:p>
          <a:p>
            <a:pPr marL="1211550" lvl="1" indent="-342891" algn="just">
              <a:buFont typeface="Arial" panose="020B0604020202020204" pitchFamily="34" charset="0"/>
              <a:buChar char="•"/>
            </a:pPr>
            <a:r>
              <a:rPr lang="ru-RU" b="1" dirty="0" smtClean="0"/>
              <a:t>Индия</a:t>
            </a:r>
            <a:r>
              <a:rPr lang="ru-RU" b="1" dirty="0"/>
              <a:t>:</a:t>
            </a:r>
            <a:r>
              <a:rPr lang="ru-RU" dirty="0"/>
              <a:t> основную объяснительную силу несет </a:t>
            </a:r>
            <a:r>
              <a:rPr lang="ru-RU" b="1" dirty="0"/>
              <a:t>капитализация </a:t>
            </a:r>
            <a:r>
              <a:rPr lang="ru-RU" b="1" dirty="0" smtClean="0"/>
              <a:t>(</a:t>
            </a:r>
            <a:r>
              <a:rPr lang="en-US" b="1" dirty="0" smtClean="0"/>
              <a:t>~</a:t>
            </a:r>
            <a:r>
              <a:rPr lang="ru-RU" b="1" dirty="0" smtClean="0"/>
              <a:t>15</a:t>
            </a:r>
            <a:r>
              <a:rPr lang="ru-RU" b="1" dirty="0"/>
              <a:t>%)</a:t>
            </a:r>
            <a:r>
              <a:rPr lang="ru-RU" dirty="0"/>
              <a:t> , далее следуют задолженность и экспорт (по </a:t>
            </a:r>
            <a:r>
              <a:rPr lang="en-US" dirty="0" smtClean="0"/>
              <a:t>~</a:t>
            </a:r>
            <a:r>
              <a:rPr lang="ru-RU" dirty="0" smtClean="0"/>
              <a:t>7.5</a:t>
            </a:r>
            <a:r>
              <a:rPr lang="ru-RU" dirty="0"/>
              <a:t>% каждый</a:t>
            </a:r>
            <a:r>
              <a:rPr lang="ru-RU" dirty="0" smtClean="0"/>
              <a:t>).</a:t>
            </a:r>
          </a:p>
          <a:p>
            <a:pPr marL="1211550" lvl="1" indent="-342891" algn="just">
              <a:buFont typeface="Arial" panose="020B0604020202020204" pitchFamily="34" charset="0"/>
              <a:buChar char="•"/>
            </a:pPr>
            <a:r>
              <a:rPr lang="ru-RU" b="1" dirty="0" smtClean="0"/>
              <a:t>Китай</a:t>
            </a:r>
            <a:r>
              <a:rPr lang="ru-RU" b="1" dirty="0"/>
              <a:t>:</a:t>
            </a:r>
            <a:r>
              <a:rPr lang="ru-RU" dirty="0"/>
              <a:t> ключевым фактором является </a:t>
            </a:r>
            <a:r>
              <a:rPr lang="ru-RU" b="1" dirty="0"/>
              <a:t>задолженность </a:t>
            </a:r>
            <a:r>
              <a:rPr lang="ru-RU" b="1" dirty="0" smtClean="0"/>
              <a:t>(</a:t>
            </a:r>
            <a:r>
              <a:rPr lang="en-US" b="1" dirty="0" smtClean="0"/>
              <a:t>~</a:t>
            </a:r>
            <a:r>
              <a:rPr lang="ru-RU" b="1" dirty="0" smtClean="0"/>
              <a:t>5</a:t>
            </a:r>
            <a:r>
              <a:rPr lang="ru-RU" b="1" dirty="0"/>
              <a:t>%)</a:t>
            </a:r>
            <a:r>
              <a:rPr lang="ru-RU" dirty="0"/>
              <a:t> , 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dirty="0" smtClean="0"/>
              <a:t>за </a:t>
            </a:r>
            <a:r>
              <a:rPr lang="ru-RU" dirty="0"/>
              <a:t>ней следуют экспорт </a:t>
            </a:r>
            <a:r>
              <a:rPr lang="ru-RU" dirty="0" smtClean="0"/>
              <a:t>(</a:t>
            </a:r>
            <a:r>
              <a:rPr lang="en-US" dirty="0" smtClean="0"/>
              <a:t>~</a:t>
            </a:r>
            <a:r>
              <a:rPr lang="ru-RU" dirty="0" smtClean="0"/>
              <a:t>3</a:t>
            </a:r>
            <a:r>
              <a:rPr lang="ru-RU" dirty="0"/>
              <a:t>%) и капитализация </a:t>
            </a:r>
            <a:r>
              <a:rPr lang="ru-RU" dirty="0" smtClean="0"/>
              <a:t>(</a:t>
            </a:r>
            <a:r>
              <a:rPr lang="en-US" dirty="0" smtClean="0"/>
              <a:t>~</a:t>
            </a:r>
            <a:r>
              <a:rPr lang="ru-RU" dirty="0" smtClean="0"/>
              <a:t>2%).</a:t>
            </a:r>
            <a:r>
              <a:rPr lang="ru-RU" dirty="0"/>
              <a:t/>
            </a:r>
            <a:br>
              <a:rPr lang="ru-RU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50235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4400" dirty="0" smtClean="0"/>
              <a:t>Заключение по Индии</a:t>
            </a:r>
            <a:endParaRPr lang="en-US" sz="4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pPr algn="just"/>
            <a:r>
              <a:rPr lang="ru-RU" dirty="0"/>
              <a:t>Для экономики Республики Индия </a:t>
            </a:r>
            <a:r>
              <a:rPr lang="ru-RU" dirty="0" smtClean="0"/>
              <a:t>особую </a:t>
            </a:r>
            <a:r>
              <a:rPr lang="ru-RU" dirty="0"/>
              <a:t>роль играют фондовые рынки. Это объясняется относительно более легким доступом к биржевому финансированию по сравнению с банковским кредитованием. В пользу этого тезиса свидетельствует значительное количество публичных компаний, чьи акции находятся в </a:t>
            </a:r>
            <a:r>
              <a:rPr lang="ru-RU" dirty="0" smtClean="0"/>
              <a:t>котировальных списках, но чьи акции не торгуются. </a:t>
            </a:r>
            <a:r>
              <a:rPr lang="ru-RU" dirty="0"/>
              <a:t>Роль банковского сектора, напротив, оказывается менее выраженной ввиду сохраняющихся сложностей с выдачей кредитов малому и среднему бизнесу (МСП), включая жесткие требования к </a:t>
            </a:r>
            <a:r>
              <a:rPr lang="ru-RU" dirty="0" smtClean="0"/>
              <a:t>обеспечению.</a:t>
            </a:r>
            <a:endParaRPr lang="ru-RU" dirty="0"/>
          </a:p>
          <a:p>
            <a:pPr algn="just"/>
            <a:r>
              <a:rPr lang="ru-RU" dirty="0"/>
              <a:t/>
            </a:r>
            <a:br>
              <a:rPr lang="ru-RU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60767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4400" dirty="0"/>
              <a:t>Рекомендации </a:t>
            </a:r>
            <a:r>
              <a:rPr lang="ru-RU" sz="4400" dirty="0" smtClean="0"/>
              <a:t>для Индии</a:t>
            </a:r>
            <a:endParaRPr lang="en-US" sz="4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pPr marL="416050" indent="-342900" algn="just">
              <a:buFont typeface="Arial" panose="020B0604020202020204" pitchFamily="34" charset="0"/>
              <a:buChar char="•"/>
            </a:pPr>
            <a:r>
              <a:rPr lang="ru-RU" dirty="0" smtClean="0"/>
              <a:t>Развивать </a:t>
            </a:r>
            <a:r>
              <a:rPr lang="ru-RU" dirty="0"/>
              <a:t>специализированные механизмы финансирования МСП, включая </a:t>
            </a:r>
            <a:r>
              <a:rPr lang="ru-RU" dirty="0" err="1"/>
              <a:t>секьюритизацию</a:t>
            </a:r>
            <a:r>
              <a:rPr lang="ru-RU" dirty="0"/>
              <a:t> портфелей кредитов и развитие альтернативных биржевых площадок (платформ для МСП). </a:t>
            </a:r>
            <a:endParaRPr lang="ru-RU" dirty="0" smtClean="0"/>
          </a:p>
          <a:p>
            <a:pPr marL="416050" indent="-342900" algn="just">
              <a:buFont typeface="Arial" panose="020B0604020202020204" pitchFamily="34" charset="0"/>
              <a:buChar char="•"/>
            </a:pPr>
            <a:r>
              <a:rPr lang="ru-RU" dirty="0" smtClean="0"/>
              <a:t>Усилить </a:t>
            </a:r>
            <a:r>
              <a:rPr lang="ru-RU" dirty="0"/>
              <a:t>пост-листинговый контроль за компаниями, вышедшими на биржу, с целью повышения прозрачности корпоративного управления и защиты прав миноритарных акционеров.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41389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4400" dirty="0" smtClean="0"/>
              <a:t>Заключение по Китаю</a:t>
            </a:r>
            <a:endParaRPr lang="en-US" sz="4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pPr algn="just"/>
            <a:r>
              <a:rPr lang="ru-RU" dirty="0"/>
              <a:t>В Китайской Народной Республике структура финансовой системы характеризуется доминированием банковского сектора 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dirty="0" smtClean="0"/>
              <a:t>над </a:t>
            </a:r>
            <a:r>
              <a:rPr lang="ru-RU" dirty="0"/>
              <a:t>рыночными механизмами финансирования. Это объясняется приоритетным доступом к кредитным ресурсам государственных 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dirty="0" smtClean="0"/>
              <a:t>и около</a:t>
            </a:r>
            <a:r>
              <a:rPr lang="en-US" dirty="0" smtClean="0"/>
              <a:t> </a:t>
            </a:r>
            <a:r>
              <a:rPr lang="ru-RU" dirty="0" smtClean="0"/>
              <a:t>государственных </a:t>
            </a:r>
            <a:r>
              <a:rPr lang="ru-RU" dirty="0"/>
              <a:t>компаний, которые, однако, создают относительно небольшую долю ВВП по сравнению с частным сектором. Фондовый рынок остается недоиспользованным источником экономического роста ввиду активного административного регулирования и </a:t>
            </a:r>
            <a:r>
              <a:rPr lang="ru-RU" dirty="0" smtClean="0"/>
              <a:t>интервенций</a:t>
            </a:r>
            <a:r>
              <a:rPr lang="en-US" dirty="0" smtClean="0"/>
              <a:t> </a:t>
            </a:r>
            <a:r>
              <a:rPr lang="ru-RU" dirty="0" smtClean="0"/>
              <a:t>со </a:t>
            </a:r>
            <a:r>
              <a:rPr lang="ru-RU" dirty="0"/>
              <a:t>стороны государства, направленных на поддержание стабильности</a:t>
            </a:r>
            <a:r>
              <a:rPr lang="ru-RU" dirty="0" smtClean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1368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4400" dirty="0"/>
              <a:t>Рекомендации для </a:t>
            </a:r>
            <a:r>
              <a:rPr lang="ru-RU" sz="4400" dirty="0" smtClean="0"/>
              <a:t>Китая</a:t>
            </a:r>
            <a:endParaRPr lang="en-US" sz="4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pPr marL="416050" indent="-342900" algn="just">
              <a:buFont typeface="Arial" panose="020B0604020202020204" pitchFamily="34" charset="0"/>
              <a:buChar char="•"/>
            </a:pPr>
            <a:r>
              <a:rPr lang="ru-RU" dirty="0"/>
              <a:t>Расширить практику кредитования негосударственного сектора, включая малые и средние предприятия, с целью повышения эффективности распределения капитала. </a:t>
            </a:r>
            <a:endParaRPr lang="ru-RU" dirty="0" smtClean="0"/>
          </a:p>
          <a:p>
            <a:pPr marL="416050" indent="-342900" algn="just">
              <a:buFont typeface="Arial" panose="020B0604020202020204" pitchFamily="34" charset="0"/>
              <a:buChar char="•"/>
            </a:pPr>
            <a:r>
              <a:rPr lang="ru-RU" dirty="0" smtClean="0"/>
              <a:t>Повысить </a:t>
            </a:r>
            <a:r>
              <a:rPr lang="ru-RU" dirty="0"/>
              <a:t>прозрачность регулирования фондового рынка 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dirty="0" smtClean="0"/>
              <a:t>и </a:t>
            </a:r>
            <a:r>
              <a:rPr lang="ru-RU" dirty="0"/>
              <a:t>снизить масштаб административных интервенций, усилив роль </a:t>
            </a:r>
            <a:r>
              <a:rPr lang="ru-RU" dirty="0" smtClean="0"/>
              <a:t>регулятора в </a:t>
            </a:r>
            <a:r>
              <a:rPr lang="ru-RU" dirty="0"/>
              <a:t>обеспечении равного доступа 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dirty="0" smtClean="0"/>
              <a:t>к </a:t>
            </a:r>
            <a:r>
              <a:rPr lang="ru-RU" dirty="0"/>
              <a:t>листингу и защите прав инвесторов.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67237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4400" dirty="0" smtClean="0"/>
              <a:t>Спасибо за внимание</a:t>
            </a:r>
            <a:endParaRPr lang="en-US" sz="4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32000" y="2089829"/>
            <a:ext cx="7620000" cy="1258093"/>
          </a:xfrm>
        </p:spPr>
        <p:txBody>
          <a:bodyPr>
            <a:noAutofit/>
          </a:bodyPr>
          <a:lstStyle/>
          <a:p>
            <a:pPr algn="just"/>
            <a:endParaRPr lang="ru-RU" dirty="0"/>
          </a:p>
          <a:p>
            <a:pPr algn="just"/>
            <a:r>
              <a:rPr lang="en-US" dirty="0"/>
              <a:t>https://istina.msu.ru/workers/804267400/publications/</a:t>
            </a:r>
            <a:endParaRPr lang="ru-RU" dirty="0"/>
          </a:p>
          <a:p>
            <a:pPr algn="just"/>
            <a:endParaRPr lang="en-US" dirty="0" smtClean="0"/>
          </a:p>
          <a:p>
            <a:pPr algn="just"/>
            <a:endParaRPr lang="en-US" dirty="0"/>
          </a:p>
          <a:p>
            <a:pPr algn="just"/>
            <a:r>
              <a:rPr lang="en-US" dirty="0" smtClean="0"/>
              <a:t>https</a:t>
            </a:r>
            <a:r>
              <a:rPr lang="en-US" dirty="0"/>
              <a:t>://</a:t>
            </a:r>
            <a:r>
              <a:rPr lang="en-US" dirty="0" smtClean="0"/>
              <a:t>github.com/BDKlyukin/conferences</a:t>
            </a:r>
            <a:endParaRPr lang="ru-RU" dirty="0" smtClean="0"/>
          </a:p>
          <a:p>
            <a:pPr algn="just"/>
            <a:endParaRPr lang="en-US" dirty="0" smtClean="0"/>
          </a:p>
          <a:p>
            <a:pPr algn="just"/>
            <a:endParaRPr lang="en-US" dirty="0" smtClean="0"/>
          </a:p>
          <a:p>
            <a:pPr algn="just"/>
            <a:r>
              <a:rPr lang="en-US" dirty="0"/>
              <a:t>https://</a:t>
            </a:r>
            <a:r>
              <a:rPr lang="en-US" dirty="0" smtClean="0"/>
              <a:t>orcid.org/my-orcid?orcid=0009-0000-8038-6035</a:t>
            </a:r>
            <a:endParaRPr lang="ru-RU" dirty="0" smtClean="0"/>
          </a:p>
          <a:p>
            <a:pPr algn="just"/>
            <a:endParaRPr lang="en-US" dirty="0" smtClean="0"/>
          </a:p>
          <a:p>
            <a:pPr algn="just"/>
            <a:endParaRPr lang="en-US" dirty="0" smtClean="0"/>
          </a:p>
          <a:p>
            <a:pPr algn="just"/>
            <a:endParaRPr lang="en-US" dirty="0"/>
          </a:p>
        </p:txBody>
      </p:sp>
      <p:pic>
        <p:nvPicPr>
          <p:cNvPr id="4098" name="Picture 2" descr="ИСТИНА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5488" y="2113783"/>
            <a:ext cx="1094594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4" name="Picture 18" descr="File:ORCID iD.svg - Wikimedia Commons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949" y="4305300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015" y="3209541"/>
            <a:ext cx="1080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5225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Исходные данные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08200" y="2089828"/>
            <a:ext cx="6324600" cy="1258093"/>
          </a:xfrm>
        </p:spPr>
        <p:txBody>
          <a:bodyPr>
            <a:normAutofit lnSpcReduction="10000"/>
          </a:bodyPr>
          <a:lstStyle/>
          <a:p>
            <a:pPr algn="just"/>
            <a:r>
              <a:rPr lang="ru-RU" dirty="0"/>
              <a:t>Исходные данные позволяют </a:t>
            </a:r>
            <a:r>
              <a:rPr lang="ru-RU" dirty="0" smtClean="0"/>
              <a:t>сравнить </a:t>
            </a:r>
            <a:r>
              <a:rPr lang="ru-RU" dirty="0"/>
              <a:t>размеры ВВП, экспорта, долга и фондового рынка каждой страны 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dirty="0" smtClean="0"/>
              <a:t>и </a:t>
            </a:r>
            <a:r>
              <a:rPr lang="ru-RU" dirty="0"/>
              <a:t>выдвинуть ряд гипотез относительно </a:t>
            </a:r>
            <a:r>
              <a:rPr lang="ru-RU" dirty="0" smtClean="0"/>
              <a:t>вклада </a:t>
            </a:r>
            <a:br>
              <a:rPr lang="ru-RU" dirty="0" smtClean="0"/>
            </a:br>
            <a:r>
              <a:rPr lang="ru-RU" dirty="0" smtClean="0"/>
              <a:t>в </a:t>
            </a:r>
            <a:r>
              <a:rPr lang="ru-RU" dirty="0"/>
              <a:t>экономический рост </a:t>
            </a:r>
            <a:r>
              <a:rPr lang="ru-RU" dirty="0" smtClean="0"/>
              <a:t>каждой из них.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01024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Динамика показателей</a:t>
            </a:r>
            <a:endParaRPr lang="en-US" dirty="0"/>
          </a:p>
        </p:txBody>
      </p:sp>
      <p:pic>
        <p:nvPicPr>
          <p:cNvPr id="1026" name="Picture 2" descr="C:\Users\bklyu\Documents\Python Scripts\_GitHub_repos\conferences\lomonosov readings 2026\explore_data\relationship_level_both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880" y="1551215"/>
            <a:ext cx="8778240" cy="2612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692121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Динамика </a:t>
            </a:r>
            <a:r>
              <a:rPr lang="ru-RU" dirty="0" smtClean="0"/>
              <a:t>показателей (Китай)</a:t>
            </a:r>
            <a:endParaRPr lang="en-US" dirty="0"/>
          </a:p>
        </p:txBody>
      </p:sp>
      <p:pic>
        <p:nvPicPr>
          <p:cNvPr id="2050" name="Picture 2" descr="C:\Users\bklyu\Documents\Python Scripts\_GitHub_repos\conferences\lomonosov readings 2026\explore_data\relationship_level_china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880" y="1389295"/>
            <a:ext cx="8778240" cy="2936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55749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Динамика </a:t>
            </a:r>
            <a:r>
              <a:rPr lang="ru-RU" dirty="0" smtClean="0"/>
              <a:t>показателей (Индия)</a:t>
            </a:r>
            <a:endParaRPr lang="en-US" dirty="0"/>
          </a:p>
        </p:txBody>
      </p:sp>
      <p:pic>
        <p:nvPicPr>
          <p:cNvPr id="3074" name="Picture 2" descr="C:\Users\bklyu\Documents\Python Scripts\_GitHub_repos\conferences\lomonosov readings 2026\explore_data\relationship_level_india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880" y="1387659"/>
            <a:ext cx="8778240" cy="29396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966346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Абсолютные приросты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pPr algn="just"/>
            <a:r>
              <a:rPr lang="ru-RU" dirty="0"/>
              <a:t>Абсолютные темпы роста, также известные как первые разности, позволяют </a:t>
            </a:r>
            <a:r>
              <a:rPr lang="ru-RU" dirty="0" smtClean="0"/>
              <a:t>сделать </a:t>
            </a:r>
            <a:r>
              <a:rPr lang="ru-RU" dirty="0"/>
              <a:t>данные </a:t>
            </a:r>
            <a:r>
              <a:rPr lang="ru-RU" dirty="0" smtClean="0"/>
              <a:t>стационарными, что </a:t>
            </a:r>
            <a:r>
              <a:rPr lang="ru-RU" dirty="0"/>
              <a:t>является одним 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dirty="0" smtClean="0"/>
              <a:t>из </a:t>
            </a:r>
            <a:r>
              <a:rPr lang="ru-RU" dirty="0"/>
              <a:t>ключевых предположений большинства эконометрических методов, включая векторную авторегрессию. Первые разности также позволяют </a:t>
            </a:r>
            <a:r>
              <a:rPr lang="ru-RU" dirty="0" smtClean="0"/>
              <a:t>исследовать </a:t>
            </a:r>
            <a:r>
              <a:rPr lang="ru-RU" dirty="0"/>
              <a:t>причинно-следственную связь роста, исключая общие тренды.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0164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Динамика показателей</a:t>
            </a:r>
            <a:endParaRPr lang="en-US" dirty="0"/>
          </a:p>
        </p:txBody>
      </p:sp>
      <p:pic>
        <p:nvPicPr>
          <p:cNvPr id="4098" name="Picture 2" descr="C:\Users\bklyu\Documents\Python Scripts\_GitHub_repos\conferences\lomonosov readings 2026\explore_data\relationship_diff_both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880" y="1517998"/>
            <a:ext cx="8778240" cy="26790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804403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Динамика показателей (Китай)</a:t>
            </a:r>
            <a:endParaRPr lang="en-US" dirty="0"/>
          </a:p>
        </p:txBody>
      </p:sp>
      <p:pic>
        <p:nvPicPr>
          <p:cNvPr id="5122" name="Picture 2" descr="C:\Users\bklyu\Documents\Python Scripts\_GitHub_repos\conferences\lomonosov readings 2026\explore_data\relationship_diff_china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880" y="1377751"/>
            <a:ext cx="8778240" cy="2959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60158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Динамика показателей (Индия)</a:t>
            </a:r>
            <a:endParaRPr lang="en-US" dirty="0"/>
          </a:p>
        </p:txBody>
      </p:sp>
      <p:pic>
        <p:nvPicPr>
          <p:cNvPr id="6146" name="Picture 2" descr="C:\Users\bklyu\Documents\Python Scripts\_GitHub_repos\conferences\lomonosov readings 2026\explore_data\relationship_diff_india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880" y="1382716"/>
            <a:ext cx="8778240" cy="29495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33633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4400" dirty="0"/>
              <a:t>Векторная авторегрессия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pPr algn="just"/>
            <a:r>
              <a:rPr lang="ru-RU" dirty="0"/>
              <a:t>Векторная авторегрессия (VAR — Vector AutoRegression) — это эконометрическая модель, используемая для анализа 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ru-RU" dirty="0" smtClean="0"/>
              <a:t>и </a:t>
            </a:r>
            <a:r>
              <a:rPr lang="ru-RU" dirty="0"/>
              <a:t>прогнозирования нескольких взаимосвязанных временных рядов. 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dirty="0" smtClean="0"/>
              <a:t>В </a:t>
            </a:r>
            <a:r>
              <a:rPr lang="ru-RU" dirty="0"/>
              <a:t>ней текущее значение каждой переменной </a:t>
            </a:r>
            <a:r>
              <a:rPr lang="ru-RU" dirty="0" smtClean="0"/>
              <a:t>зависит от </a:t>
            </a:r>
            <a:r>
              <a:rPr lang="ru-RU" dirty="0"/>
              <a:t>её собственных прошлых значений и от прошлых значений всех остальных переменных в системе. Она </a:t>
            </a:r>
            <a:r>
              <a:rPr lang="ru-RU" dirty="0" smtClean="0"/>
              <a:t>применяется </a:t>
            </a:r>
            <a:br>
              <a:rPr lang="ru-RU" dirty="0" smtClean="0"/>
            </a:br>
            <a:r>
              <a:rPr lang="ru-RU" dirty="0" smtClean="0"/>
              <a:t>для </a:t>
            </a:r>
            <a:r>
              <a:rPr lang="ru-RU" dirty="0"/>
              <a:t>моделирования динамики и взаимовлияния стационарных экономических показателей.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72991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VAR</a:t>
            </a:r>
            <a:r>
              <a:rPr lang="ru-RU" dirty="0"/>
              <a:t> </a:t>
            </a:r>
            <a:r>
              <a:rPr lang="ru-RU" dirty="0" smtClean="0"/>
              <a:t>Индии</a:t>
            </a:r>
            <a:r>
              <a:rPr lang="en-US" dirty="0" smtClean="0"/>
              <a:t>: </a:t>
            </a:r>
            <a:r>
              <a:rPr lang="ru-RU" dirty="0" smtClean="0"/>
              <a:t>спецификация</a:t>
            </a:r>
            <a:endParaRPr lang="en-US" dirty="0"/>
          </a:p>
        </p:txBody>
      </p:sp>
      <p:pic>
        <p:nvPicPr>
          <p:cNvPr id="8200" name="Picture 8" descr="C:\Users\bklyu\Documents\Python Scripts\_GitHub_repos\conferences\lomonosov readings 2026\explore_data\_gdp_obs_model_india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8406" y="1485900"/>
            <a:ext cx="5486401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1179781" y="2503558"/>
            <a:ext cx="19952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VAR(5)</a:t>
            </a:r>
          </a:p>
        </p:txBody>
      </p:sp>
    </p:spTree>
    <p:extLst>
      <p:ext uri="{BB962C8B-B14F-4D97-AF65-F5344CB8AC3E}">
        <p14:creationId xmlns:p14="http://schemas.microsoft.com/office/powerpoint/2010/main" val="38616531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VAR</a:t>
            </a:r>
            <a:r>
              <a:rPr lang="ru-RU" dirty="0"/>
              <a:t> Индии</a:t>
            </a:r>
            <a:r>
              <a:rPr lang="en-US" dirty="0"/>
              <a:t>: </a:t>
            </a:r>
            <a:r>
              <a:rPr lang="ru-RU" dirty="0" smtClean="0"/>
              <a:t>прогноз</a:t>
            </a:r>
            <a:endParaRPr lang="en-US" dirty="0"/>
          </a:p>
        </p:txBody>
      </p:sp>
      <p:pic>
        <p:nvPicPr>
          <p:cNvPr id="7172" name="Picture 4" descr="C:\Users\bklyu\Documents\Python Scripts\_GitHub_repos\conferences\lomonosov readings 2026\explore_data\_gdp_forecast_diff_india.pn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33" t="6425" r="2951" b="6336"/>
          <a:stretch/>
        </p:blipFill>
        <p:spPr bwMode="auto">
          <a:xfrm>
            <a:off x="736600" y="1104900"/>
            <a:ext cx="3657600" cy="1752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3" name="Picture 5" descr="C:\Users\bklyu\Documents\Python Scripts\_GitHub_repos\conferences\lomonosov readings 2026\explore_data\_gdp_forecast_value_india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0" t="6511" r="2691" b="5469"/>
          <a:stretch/>
        </p:blipFill>
        <p:spPr bwMode="auto">
          <a:xfrm>
            <a:off x="3222629" y="2697961"/>
            <a:ext cx="6248401" cy="2925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57867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VAR</a:t>
            </a:r>
            <a:r>
              <a:rPr lang="ru-RU" dirty="0"/>
              <a:t> </a:t>
            </a:r>
            <a:r>
              <a:rPr lang="ru-RU" dirty="0" smtClean="0"/>
              <a:t>Китая</a:t>
            </a:r>
            <a:r>
              <a:rPr lang="en-US" dirty="0" smtClean="0"/>
              <a:t>: </a:t>
            </a:r>
            <a:r>
              <a:rPr lang="ru-RU" dirty="0" smtClean="0"/>
              <a:t>спецификация</a:t>
            </a:r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1179781" y="2503558"/>
            <a:ext cx="19952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VAR(</a:t>
            </a:r>
            <a:r>
              <a:rPr lang="ru-RU" sz="4000" dirty="0"/>
              <a:t>2</a:t>
            </a:r>
            <a:r>
              <a:rPr lang="en-US" sz="4000" dirty="0"/>
              <a:t>)</a:t>
            </a:r>
          </a:p>
        </p:txBody>
      </p:sp>
      <p:pic>
        <p:nvPicPr>
          <p:cNvPr id="13314" name="Picture 2" descr="C:\Users\bklyu\Documents\Python Scripts\_GitHub_repos\conferences\lomonosov readings 2026\explore_data\_gdp_obs_model_china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8400" y="1485900"/>
            <a:ext cx="5486400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64651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VAR</a:t>
            </a:r>
            <a:r>
              <a:rPr lang="ru-RU" dirty="0"/>
              <a:t> </a:t>
            </a:r>
            <a:r>
              <a:rPr lang="ru-RU" dirty="0" smtClean="0"/>
              <a:t>Китая</a:t>
            </a:r>
            <a:r>
              <a:rPr lang="en-US" dirty="0" smtClean="0"/>
              <a:t>: </a:t>
            </a:r>
            <a:r>
              <a:rPr lang="ru-RU" dirty="0" smtClean="0"/>
              <a:t>прогноз</a:t>
            </a:r>
            <a:endParaRPr lang="en-US" dirty="0"/>
          </a:p>
        </p:txBody>
      </p:sp>
      <p:pic>
        <p:nvPicPr>
          <p:cNvPr id="14338" name="Picture 2" descr="C:\Users\bklyu\Documents\Python Scripts\_GitHub_repos\conferences\lomonosov readings 2026\explore_data\_gdp_forecast_diff_china.pn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858" r="2865" b="6944"/>
          <a:stretch/>
        </p:blipFill>
        <p:spPr bwMode="auto">
          <a:xfrm>
            <a:off x="762795" y="1104904"/>
            <a:ext cx="3657600" cy="16228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39" name="Picture 3" descr="C:\Users\bklyu\Documents\Python Scripts\_GitHub_repos\conferences\lomonosov readings 2026\explore_data\_gdp_forecast_value_china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42" r="3211" b="6799"/>
          <a:stretch/>
        </p:blipFill>
        <p:spPr bwMode="auto">
          <a:xfrm>
            <a:off x="3222623" y="2781305"/>
            <a:ext cx="6309360" cy="2817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91450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4400" dirty="0"/>
              <a:t>Функции импульсных откликов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pPr algn="just"/>
            <a:r>
              <a:rPr lang="ru-RU" dirty="0" smtClean="0"/>
              <a:t>Функции импульсных откликов (IRF – </a:t>
            </a:r>
            <a:r>
              <a:rPr lang="en-US" dirty="0" smtClean="0"/>
              <a:t>Impulse</a:t>
            </a:r>
            <a:r>
              <a:rPr lang="ru-RU" dirty="0" smtClean="0"/>
              <a:t> </a:t>
            </a:r>
            <a:r>
              <a:rPr lang="en-US" dirty="0" smtClean="0"/>
              <a:t>Response </a:t>
            </a:r>
            <a:r>
              <a:rPr lang="en-US" dirty="0"/>
              <a:t>Function</a:t>
            </a:r>
            <a:r>
              <a:rPr lang="ru-RU" dirty="0" smtClean="0"/>
              <a:t>) в векторной авторегрессии показывают, как шок (непредвиденное изменение) одной переменной влияет на текущие и будущие значения всех переменных системы. IRF позволяет оценить силу, направление и длительность реакции системы на внешний импульс, затухающий 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ru-RU" dirty="0" smtClean="0"/>
              <a:t>со временем.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8236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Отклик ВВП Китая </a:t>
            </a:r>
            <a:r>
              <a:rPr lang="ru-RU" dirty="0" smtClean="0"/>
              <a:t>на </a:t>
            </a:r>
            <a:r>
              <a:rPr lang="ru-RU" dirty="0"/>
              <a:t>шоки</a:t>
            </a:r>
            <a:endParaRPr lang="en-US" dirty="0"/>
          </a:p>
        </p:txBody>
      </p:sp>
      <p:pic>
        <p:nvPicPr>
          <p:cNvPr id="8195" name="Picture 3" descr="C:\Users\bklyu\Documents\Python Scripts\_GitHub_repos\conferences\lomonosov readings 2026\explore_data\irf_china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880" y="1487746"/>
            <a:ext cx="8778240" cy="2739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958822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Отклик ВВП </a:t>
            </a:r>
            <a:r>
              <a:rPr lang="ru-RU" dirty="0"/>
              <a:t>Индии </a:t>
            </a:r>
            <a:r>
              <a:rPr lang="ru-RU" dirty="0" smtClean="0"/>
              <a:t>на шоки</a:t>
            </a:r>
            <a:endParaRPr lang="en-US" dirty="0"/>
          </a:p>
        </p:txBody>
      </p:sp>
      <p:pic>
        <p:nvPicPr>
          <p:cNvPr id="7171" name="Picture 3" descr="C:\Users\bklyu\Documents\Python Scripts\_GitHub_repos\conferences\lomonosov readings 2026\explore_data\irf_india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880" y="1487148"/>
            <a:ext cx="8778240" cy="2740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20882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08200" y="508000"/>
            <a:ext cx="7543800" cy="1524000"/>
          </a:xfrm>
        </p:spPr>
        <p:txBody>
          <a:bodyPr/>
          <a:lstStyle/>
          <a:p>
            <a:r>
              <a:rPr lang="ru-RU" sz="4400" dirty="0"/>
              <a:t>Кумулятивная функция импульсных откликов</a:t>
            </a:r>
            <a:endParaRPr lang="en-US" sz="4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pPr algn="just"/>
            <a:r>
              <a:rPr lang="ru-RU" dirty="0"/>
              <a:t>Кумулятивная функция импульсных откликов (</a:t>
            </a:r>
            <a:r>
              <a:rPr lang="ru-RU" dirty="0" smtClean="0"/>
              <a:t>CIRF – </a:t>
            </a:r>
            <a:r>
              <a:rPr lang="en-US" dirty="0" smtClean="0"/>
              <a:t>Cumulative Impulse</a:t>
            </a:r>
            <a:r>
              <a:rPr lang="ru-RU" dirty="0" smtClean="0"/>
              <a:t> </a:t>
            </a:r>
            <a:r>
              <a:rPr lang="en-US" dirty="0"/>
              <a:t>Response Function</a:t>
            </a:r>
            <a:r>
              <a:rPr lang="ru-RU" dirty="0" smtClean="0"/>
              <a:t>) </a:t>
            </a:r>
            <a:r>
              <a:rPr lang="ru-RU" dirty="0"/>
              <a:t>в моделях векторной </a:t>
            </a:r>
            <a:r>
              <a:rPr lang="ru-RU" dirty="0" smtClean="0"/>
              <a:t>авторегрессии </a:t>
            </a:r>
            <a:r>
              <a:rPr lang="ru-RU" dirty="0"/>
              <a:t>показывает совокупный долгосрочный эффект единовременного шока одной переменной на будущие значения других </a:t>
            </a:r>
            <a:r>
              <a:rPr lang="ru-RU" dirty="0" smtClean="0"/>
              <a:t>переменных. 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ru-RU" dirty="0" smtClean="0"/>
              <a:t>В </a:t>
            </a:r>
            <a:r>
              <a:rPr lang="ru-RU" dirty="0"/>
              <a:t>отличие от обычного импульсного отклика, который показывает реакцию в конкретный момент времени, CIRF накапливает </a:t>
            </a:r>
            <a:r>
              <a:rPr lang="ru-RU" dirty="0" smtClean="0"/>
              <a:t>эти реакции, </a:t>
            </a:r>
            <a:r>
              <a:rPr lang="ru-RU" dirty="0"/>
              <a:t>позволяя оценить, приведет ли шок к постоянному изменению уровня переменной.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10442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Накопленная </a:t>
            </a:r>
            <a:r>
              <a:rPr lang="ru-RU" dirty="0"/>
              <a:t>реакция </a:t>
            </a:r>
            <a:r>
              <a:rPr lang="ru-RU" dirty="0" smtClean="0"/>
              <a:t>Китая</a:t>
            </a:r>
            <a:endParaRPr lang="en-US" dirty="0"/>
          </a:p>
        </p:txBody>
      </p:sp>
      <p:pic>
        <p:nvPicPr>
          <p:cNvPr id="10242" name="Picture 2" descr="C:\Users\bklyu\Documents\Python Scripts\_GitHub_repos\conferences\lomonosov readings 2026\explore_data\cirf_china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880" y="1467286"/>
            <a:ext cx="8778240" cy="27804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37224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Накопленная реакция ВВП </a:t>
            </a:r>
            <a:r>
              <a:rPr lang="ru-RU" dirty="0"/>
              <a:t>Индии</a:t>
            </a:r>
            <a:endParaRPr lang="en-US" dirty="0"/>
          </a:p>
        </p:txBody>
      </p:sp>
      <p:pic>
        <p:nvPicPr>
          <p:cNvPr id="9219" name="Picture 3" descr="C:\Users\bklyu\Documents\Python Scripts\_GitHub_repos\conferences\lomonosov readings 2026\explore_data\cirf_india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880" y="1475186"/>
            <a:ext cx="8778240" cy="2764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20380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4400" dirty="0"/>
              <a:t>Разложение дисперсии ошибки прогноза</a:t>
            </a:r>
            <a:endParaRPr lang="en-US" sz="4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pPr algn="just"/>
            <a:r>
              <a:rPr lang="ru-RU" dirty="0" smtClean="0"/>
              <a:t>Разложение </a:t>
            </a:r>
            <a:r>
              <a:rPr lang="ru-RU" dirty="0"/>
              <a:t>дисперсии ошибки прогноза </a:t>
            </a:r>
            <a:r>
              <a:rPr lang="ru-RU" dirty="0" smtClean="0"/>
              <a:t>(FEVD – Forecast Error </a:t>
            </a:r>
            <a:r>
              <a:rPr lang="ru-RU" dirty="0"/>
              <a:t>Variance </a:t>
            </a:r>
            <a:r>
              <a:rPr lang="ru-RU" dirty="0" smtClean="0"/>
              <a:t>Decomposition), — </a:t>
            </a:r>
            <a:r>
              <a:rPr lang="ru-RU" dirty="0"/>
              <a:t>это метод в эконометрике (</a:t>
            </a:r>
            <a:r>
              <a:rPr lang="ru-RU"/>
              <a:t>обычно </a:t>
            </a:r>
            <a:r>
              <a:rPr lang="ru-RU" smtClean="0"/>
              <a:t/>
            </a:r>
            <a:br>
              <a:rPr lang="ru-RU" smtClean="0"/>
            </a:br>
            <a:r>
              <a:rPr lang="ru-RU" smtClean="0"/>
              <a:t>в </a:t>
            </a:r>
            <a:r>
              <a:rPr lang="ru-RU" dirty="0"/>
              <a:t>моделях VAR), определяющий, какой процент волатильности (дисперсии) одной переменной объясняется неожиданными шоками другой переменной. FEVD показывает </a:t>
            </a:r>
            <a:r>
              <a:rPr lang="ru-RU" b="1" dirty="0"/>
              <a:t>относительную важность каждого структурного шока </a:t>
            </a:r>
            <a:r>
              <a:rPr lang="ru-RU" b="1" dirty="0" smtClean="0"/>
              <a:t>для </a:t>
            </a:r>
            <a:r>
              <a:rPr lang="ru-RU" b="1" dirty="0"/>
              <a:t>переменных системы</a:t>
            </a:r>
            <a:r>
              <a:rPr lang="ru-RU" dirty="0"/>
              <a:t> 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dirty="0" smtClean="0"/>
              <a:t>в </a:t>
            </a:r>
            <a:r>
              <a:rPr lang="ru-RU" dirty="0"/>
              <a:t>краткосрочной и долгосрочной перспективе.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10442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Вклад переменных в ВВП Индии</a:t>
            </a:r>
            <a:endParaRPr lang="en-US" dirty="0"/>
          </a:p>
        </p:txBody>
      </p:sp>
      <p:pic>
        <p:nvPicPr>
          <p:cNvPr id="11266" name="Picture 2" descr="C:\Users\bklyu\Documents\Python Scripts\_GitHub_repos\conferences\lomonosov readings 2026\explore_data\fevd_india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880" y="1716334"/>
            <a:ext cx="8778240" cy="2282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297425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Вклад переменных в ВВП </a:t>
            </a:r>
            <a:r>
              <a:rPr lang="ru-RU" dirty="0" smtClean="0"/>
              <a:t>Китая</a:t>
            </a:r>
            <a:endParaRPr lang="en-US" dirty="0"/>
          </a:p>
        </p:txBody>
      </p:sp>
      <p:pic>
        <p:nvPicPr>
          <p:cNvPr id="12290" name="Picture 2" descr="C:\Users\bklyu\Documents\Python Scripts\_GitHub_repos\conferences\lomonosov readings 2026\explore_data\fevd_china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880" y="1706579"/>
            <a:ext cx="8778240" cy="2301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69665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Приложение (1)</a:t>
            </a:r>
            <a:br>
              <a:rPr lang="ru-RU" dirty="0" smtClean="0"/>
            </a:br>
            <a:r>
              <a:rPr lang="ru-RU" dirty="0" smtClean="0"/>
              <a:t>(тесты на стационарность)</a:t>
            </a:r>
            <a:endParaRPr lang="ru-RU" dirty="0"/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6071712"/>
              </p:ext>
            </p:extLst>
          </p:nvPr>
        </p:nvGraphicFramePr>
        <p:xfrm>
          <a:off x="698500" y="1795220"/>
          <a:ext cx="8763000" cy="3272085"/>
        </p:xfrm>
        <a:graphic>
          <a:graphicData uri="http://schemas.openxmlformats.org/drawingml/2006/table">
            <a:tbl>
              <a:tblPr/>
              <a:tblGrid>
                <a:gridCol w="685800">
                  <a:extLst>
                    <a:ext uri="{9D8B030D-6E8A-4147-A177-3AD203B41FA5}">
                      <a16:colId xmlns:a16="http://schemas.microsoft.com/office/drawing/2014/main" val="624612930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1773428816"/>
                    </a:ext>
                  </a:extLst>
                </a:gridCol>
                <a:gridCol w="876300">
                  <a:extLst>
                    <a:ext uri="{9D8B030D-6E8A-4147-A177-3AD203B41FA5}">
                      <a16:colId xmlns:a16="http://schemas.microsoft.com/office/drawing/2014/main" val="3861610767"/>
                    </a:ext>
                  </a:extLst>
                </a:gridCol>
                <a:gridCol w="876300">
                  <a:extLst>
                    <a:ext uri="{9D8B030D-6E8A-4147-A177-3AD203B41FA5}">
                      <a16:colId xmlns:a16="http://schemas.microsoft.com/office/drawing/2014/main" val="2770292164"/>
                    </a:ext>
                  </a:extLst>
                </a:gridCol>
                <a:gridCol w="876300">
                  <a:extLst>
                    <a:ext uri="{9D8B030D-6E8A-4147-A177-3AD203B41FA5}">
                      <a16:colId xmlns:a16="http://schemas.microsoft.com/office/drawing/2014/main" val="369307727"/>
                    </a:ext>
                  </a:extLst>
                </a:gridCol>
                <a:gridCol w="876300">
                  <a:extLst>
                    <a:ext uri="{9D8B030D-6E8A-4147-A177-3AD203B41FA5}">
                      <a16:colId xmlns:a16="http://schemas.microsoft.com/office/drawing/2014/main" val="1871174998"/>
                    </a:ext>
                  </a:extLst>
                </a:gridCol>
                <a:gridCol w="876300">
                  <a:extLst>
                    <a:ext uri="{9D8B030D-6E8A-4147-A177-3AD203B41FA5}">
                      <a16:colId xmlns:a16="http://schemas.microsoft.com/office/drawing/2014/main" val="1562508952"/>
                    </a:ext>
                  </a:extLst>
                </a:gridCol>
                <a:gridCol w="876300">
                  <a:extLst>
                    <a:ext uri="{9D8B030D-6E8A-4147-A177-3AD203B41FA5}">
                      <a16:colId xmlns:a16="http://schemas.microsoft.com/office/drawing/2014/main" val="1349321063"/>
                    </a:ext>
                  </a:extLst>
                </a:gridCol>
                <a:gridCol w="876300">
                  <a:extLst>
                    <a:ext uri="{9D8B030D-6E8A-4147-A177-3AD203B41FA5}">
                      <a16:colId xmlns:a16="http://schemas.microsoft.com/office/drawing/2014/main" val="3232355376"/>
                    </a:ext>
                  </a:extLst>
                </a:gridCol>
                <a:gridCol w="876300">
                  <a:extLst>
                    <a:ext uri="{9D8B030D-6E8A-4147-A177-3AD203B41FA5}">
                      <a16:colId xmlns:a16="http://schemas.microsoft.com/office/drawing/2014/main" val="3750155348"/>
                    </a:ext>
                  </a:extLst>
                </a:gridCol>
              </a:tblGrid>
              <a:tr h="680085"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Country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Parameter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ADF p-value (level data)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DFGLS p-value (level data)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b="1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PhillipsPerron</a:t>
                      </a:r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p-value (level data)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KPSS p-value (level data)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ADF p-value (differenced data)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DFGLS p-value (differenced data)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b="1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PhillipsPerron</a:t>
                      </a:r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p-value (differenced data)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KPSS p-value (differenced data)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82249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Индия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ВВП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98,06%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99,40%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99,49%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10,00%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030649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Индия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Капитализация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93,34%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84,82%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98,82%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10,00%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019957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Индия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Задолженность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99,90%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99,82%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5,78%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11433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Индия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Экспорт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60,87%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77,49%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63,34%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10,00%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434534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Китай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ВВП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99,75%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99,99%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99,90%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6,23%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84500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Китай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Капитализация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91,80%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86,32%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95,24%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10,00%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917200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Китай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Задолженность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99,57%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22,99%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17,82%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1,04%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975364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Китай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Экспорт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90,58%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98,28%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92,55%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10,00%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43655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419956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Приложение </a:t>
            </a:r>
            <a:r>
              <a:rPr lang="ru-RU" dirty="0" smtClean="0"/>
              <a:t>(2)</a:t>
            </a:r>
            <a:r>
              <a:rPr lang="ru-RU" smtClean="0"/>
              <a:t/>
            </a:r>
            <a:br>
              <a:rPr lang="ru-RU" smtClean="0"/>
            </a:br>
            <a:r>
              <a:rPr lang="ru-RU" smtClean="0"/>
              <a:t>(тесты </a:t>
            </a:r>
            <a:r>
              <a:rPr lang="ru-RU" dirty="0" smtClean="0"/>
              <a:t>на </a:t>
            </a:r>
            <a:r>
              <a:rPr lang="ru-RU" dirty="0" err="1" smtClean="0"/>
              <a:t>коинтеграцию</a:t>
            </a:r>
            <a:r>
              <a:rPr lang="ru-RU" dirty="0" smtClean="0"/>
              <a:t>)</a:t>
            </a:r>
            <a:endParaRPr lang="ru-RU" dirty="0"/>
          </a:p>
        </p:txBody>
      </p:sp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1893036"/>
              </p:ext>
            </p:extLst>
          </p:nvPr>
        </p:nvGraphicFramePr>
        <p:xfrm>
          <a:off x="2167343" y="1867500"/>
          <a:ext cx="5825322" cy="1980000"/>
        </p:xfrm>
        <a:graphic>
          <a:graphicData uri="http://schemas.openxmlformats.org/drawingml/2006/table">
            <a:tbl>
              <a:tblPr/>
              <a:tblGrid>
                <a:gridCol w="1188000">
                  <a:extLst>
                    <a:ext uri="{9D8B030D-6E8A-4147-A177-3AD203B41FA5}">
                      <a16:colId xmlns:a16="http://schemas.microsoft.com/office/drawing/2014/main" val="3843722094"/>
                    </a:ext>
                  </a:extLst>
                </a:gridCol>
                <a:gridCol w="772887">
                  <a:extLst>
                    <a:ext uri="{9D8B030D-6E8A-4147-A177-3AD203B41FA5}">
                      <a16:colId xmlns:a16="http://schemas.microsoft.com/office/drawing/2014/main" val="4223612404"/>
                    </a:ext>
                  </a:extLst>
                </a:gridCol>
                <a:gridCol w="772887">
                  <a:extLst>
                    <a:ext uri="{9D8B030D-6E8A-4147-A177-3AD203B41FA5}">
                      <a16:colId xmlns:a16="http://schemas.microsoft.com/office/drawing/2014/main" val="990804627"/>
                    </a:ext>
                  </a:extLst>
                </a:gridCol>
                <a:gridCol w="772887">
                  <a:extLst>
                    <a:ext uri="{9D8B030D-6E8A-4147-A177-3AD203B41FA5}">
                      <a16:colId xmlns:a16="http://schemas.microsoft.com/office/drawing/2014/main" val="1916253108"/>
                    </a:ext>
                  </a:extLst>
                </a:gridCol>
                <a:gridCol w="772887">
                  <a:extLst>
                    <a:ext uri="{9D8B030D-6E8A-4147-A177-3AD203B41FA5}">
                      <a16:colId xmlns:a16="http://schemas.microsoft.com/office/drawing/2014/main" val="2997361580"/>
                    </a:ext>
                  </a:extLst>
                </a:gridCol>
                <a:gridCol w="772887">
                  <a:extLst>
                    <a:ext uri="{9D8B030D-6E8A-4147-A177-3AD203B41FA5}">
                      <a16:colId xmlns:a16="http://schemas.microsoft.com/office/drawing/2014/main" val="3848431197"/>
                    </a:ext>
                  </a:extLst>
                </a:gridCol>
                <a:gridCol w="772887">
                  <a:extLst>
                    <a:ext uri="{9D8B030D-6E8A-4147-A177-3AD203B41FA5}">
                      <a16:colId xmlns:a16="http://schemas.microsoft.com/office/drawing/2014/main" val="1324118605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 fontAlgn="t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ВВП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Капитализация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Задолженность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425513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 fontAlgn="t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Индия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Китай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Индия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Китай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Индия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Китай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9558075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 fontAlgn="t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Капитализация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3,8%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14,5%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1100" b="0" i="0" u="none" strike="noStrike">
                        <a:solidFill>
                          <a:srgbClr val="FF866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1100" b="0" i="0" u="none" strike="noStrike">
                        <a:solidFill>
                          <a:srgbClr val="FF866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1100" b="0" i="0" u="none" strike="noStrike">
                        <a:solidFill>
                          <a:srgbClr val="FF866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1100" b="0" i="0" u="none" strike="noStrike">
                        <a:solidFill>
                          <a:srgbClr val="FF866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504915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 fontAlgn="t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Задолженность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8,3%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4,7%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74,4%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2,8%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1100" b="0" i="0" u="none" strike="noStrike" dirty="0">
                        <a:solidFill>
                          <a:srgbClr val="FF866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1100" b="0" i="0" u="none" strike="noStrike">
                        <a:solidFill>
                          <a:srgbClr val="FF866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1484211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 fontAlgn="t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Экспорт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84,4%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16,2%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91,6%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4,8%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33,8%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98,7%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26679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864735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smtClean="0"/>
              <a:t>Приложение (3)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dirty="0" smtClean="0"/>
              <a:t>(Причинность </a:t>
            </a:r>
            <a:r>
              <a:rPr lang="ru-RU" dirty="0"/>
              <a:t>по </a:t>
            </a:r>
            <a:r>
              <a:rPr lang="ru-RU" dirty="0" err="1" smtClean="0"/>
              <a:t>Грейнджеру</a:t>
            </a:r>
            <a:r>
              <a:rPr lang="ru-RU" dirty="0" smtClean="0"/>
              <a:t>)</a:t>
            </a:r>
            <a:endParaRPr lang="ru-RU" dirty="0"/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2186163"/>
              </p:ext>
            </p:extLst>
          </p:nvPr>
        </p:nvGraphicFramePr>
        <p:xfrm>
          <a:off x="1832800" y="1723500"/>
          <a:ext cx="6494400" cy="22680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442191263"/>
                    </a:ext>
                  </a:extLst>
                </a:gridCol>
                <a:gridCol w="1008000">
                  <a:extLst>
                    <a:ext uri="{9D8B030D-6E8A-4147-A177-3AD203B41FA5}">
                      <a16:colId xmlns:a16="http://schemas.microsoft.com/office/drawing/2014/main" val="283815589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13794322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40055091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37332222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08586281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61652001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13243882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79932804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822490734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 fontAlgn="b"/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Кол-во лагов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00439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Китай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Капитализация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85,56%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39,52%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47,43%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22,26%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14,02%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19,32%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10,05%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18,24%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395906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Китай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Задолженность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0,20%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0,60%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0,92%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3,39%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6,56%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7,82%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13,70%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6,13%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663764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Китай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Экспорт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62,90%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33,76%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50,85%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75,08%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82,93%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69,21%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66,60%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68,87%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9901986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Индия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Капитализация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1,49%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0,53%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0,02%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0,14%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0,21%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0,37%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0,07%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0,21%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5565924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Индия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Задолженность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10,85%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8,64%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4,98%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8,16%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9,83%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6,06%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7,80%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1,08%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2235164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Индия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Экспорт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1,61%</a:t>
                      </a:r>
                    </a:p>
                  </a:txBody>
                  <a:tcPr marL="9525" marR="9525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7,04%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1,22%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6,54%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8,29%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1,35%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66FF66"/>
                          </a:solidFill>
                          <a:effectLst/>
                          <a:latin typeface="Calibri" panose="020F0502020204030204" pitchFamily="34" charset="0"/>
                        </a:rPr>
                        <a:t>2,49%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 dirty="0">
                          <a:solidFill>
                            <a:srgbClr val="FF8669"/>
                          </a:solidFill>
                          <a:effectLst/>
                          <a:latin typeface="Calibri" panose="020F0502020204030204" pitchFamily="34" charset="0"/>
                        </a:rPr>
                        <a:t>8,80%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40347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495831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Apex">
  <a:themeElements>
    <a:clrScheme name="Apex">
      <a:dk1>
        <a:sysClr val="windowText" lastClr="000000"/>
      </a:dk1>
      <a:lt1>
        <a:sysClr val="window" lastClr="FFFFFF"/>
      </a:lt1>
      <a:dk2>
        <a:srgbClr val="69676D"/>
      </a:dk2>
      <a:lt2>
        <a:srgbClr val="C9C2D1"/>
      </a:lt2>
      <a:accent1>
        <a:srgbClr val="CEB966"/>
      </a:accent1>
      <a:accent2>
        <a:srgbClr val="9CB084"/>
      </a:accent2>
      <a:accent3>
        <a:srgbClr val="6BB1C9"/>
      </a:accent3>
      <a:accent4>
        <a:srgbClr val="6585CF"/>
      </a:accent4>
      <a:accent5>
        <a:srgbClr val="7E6BC9"/>
      </a:accent5>
      <a:accent6>
        <a:srgbClr val="A379BB"/>
      </a:accent6>
      <a:hlink>
        <a:srgbClr val="410082"/>
      </a:hlink>
      <a:folHlink>
        <a:srgbClr val="932968"/>
      </a:folHlink>
    </a:clrScheme>
    <a:fontScheme name="Apex">
      <a:majorFont>
        <a:latin typeface="Lucida Sans"/>
        <a:ea typeface=""/>
        <a:cs typeface=""/>
        <a:font script="Grek" typeface="Arial"/>
        <a:font script="Cyrl" typeface="Arial"/>
        <a:font script="Jpan" typeface="HG丸ｺﾞｼｯｸM-PRO"/>
        <a:font script="Hang" typeface="휴먼옛체"/>
        <a:font script="Hans" typeface="黑体"/>
        <a:font script="Hant" typeface="微軟正黑體"/>
        <a:font script="Arab" typeface="Tahoma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Book Antiqua"/>
        <a:ea typeface=""/>
        <a:cs typeface=""/>
        <a:font script="Grek" typeface="Times New Roman"/>
        <a:font script="Cyrl" typeface="Times New Roman"/>
        <a:font script="Jpan" typeface="HG明朝B"/>
        <a:font script="Hang" typeface="돋움"/>
        <a:font script="Hans" typeface="宋体"/>
        <a:font script="Hant" typeface="新細明體"/>
        <a:font script="Arab" typeface="Times New Roman"/>
        <a:font script="Hebr" typeface="David"/>
        <a:font script="Thai" typeface="Eucrosia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Apex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180000"/>
              </a:schemeClr>
            </a:gs>
            <a:gs pos="100000">
              <a:schemeClr val="phClr">
                <a:shade val="45000"/>
                <a:satMod val="120000"/>
              </a:schemeClr>
            </a:gs>
          </a:gsLst>
          <a:path path="circle">
            <a:fillToRect r="10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3000"/>
                <a:satMod val="110000"/>
              </a:schemeClr>
              <a:schemeClr val="phClr">
                <a:tint val="60000"/>
                <a:satMod val="425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Apex</Template>
  <TotalTime>436</TotalTime>
  <Words>1405</Words>
  <Application>Microsoft Office PowerPoint</Application>
  <PresentationFormat>Произвольный</PresentationFormat>
  <Paragraphs>263</Paragraphs>
  <Slides>37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6" baseType="lpstr">
      <vt:lpstr>Arial</vt:lpstr>
      <vt:lpstr>Book Antiqua</vt:lpstr>
      <vt:lpstr>Calibri</vt:lpstr>
      <vt:lpstr>Lucida Sans</vt:lpstr>
      <vt:lpstr>Times New Roman</vt:lpstr>
      <vt:lpstr>Wingdings</vt:lpstr>
      <vt:lpstr>Wingdings 2</vt:lpstr>
      <vt:lpstr>Wingdings 3</vt:lpstr>
      <vt:lpstr>Apex</vt:lpstr>
      <vt:lpstr>Сравнительный анализ вклада фондового рынка в экономику Республики Индия и Китайской Народной Республики</vt:lpstr>
      <vt:lpstr>Обоснование исследования</vt:lpstr>
      <vt:lpstr>Проблемы с литературой</vt:lpstr>
      <vt:lpstr>Учет недостатков  и новизна</vt:lpstr>
      <vt:lpstr>Выводы (1)</vt:lpstr>
      <vt:lpstr>Выводы (2)</vt:lpstr>
      <vt:lpstr>Выводы (3)</vt:lpstr>
      <vt:lpstr>Заключение по Индии</vt:lpstr>
      <vt:lpstr>Рекомендации для Индии</vt:lpstr>
      <vt:lpstr>Заключение по Китаю</vt:lpstr>
      <vt:lpstr>Рекомендации для Китая</vt:lpstr>
      <vt:lpstr>Спасибо за внимание</vt:lpstr>
      <vt:lpstr>Исходные данные</vt:lpstr>
      <vt:lpstr>Динамика показателей</vt:lpstr>
      <vt:lpstr>Динамика показателей (Китай)</vt:lpstr>
      <vt:lpstr>Динамика показателей (Индия)</vt:lpstr>
      <vt:lpstr>Абсолютные приросты</vt:lpstr>
      <vt:lpstr>Динамика показателей</vt:lpstr>
      <vt:lpstr>Динамика показателей (Китай)</vt:lpstr>
      <vt:lpstr>Динамика показателей (Индия)</vt:lpstr>
      <vt:lpstr>Векторная авторегрессия</vt:lpstr>
      <vt:lpstr>VAR Индии: спецификация</vt:lpstr>
      <vt:lpstr>VAR Индии: прогноз</vt:lpstr>
      <vt:lpstr>VAR Китая: спецификация</vt:lpstr>
      <vt:lpstr>VAR Китая: прогноз</vt:lpstr>
      <vt:lpstr>Функции импульсных откликов</vt:lpstr>
      <vt:lpstr>Отклик ВВП Китая на шоки</vt:lpstr>
      <vt:lpstr>Отклик ВВП Индии на шоки</vt:lpstr>
      <vt:lpstr>Кумулятивная функция импульсных откликов</vt:lpstr>
      <vt:lpstr>Накопленная реакция Китая</vt:lpstr>
      <vt:lpstr>Накопленная реакция ВВП Индии</vt:lpstr>
      <vt:lpstr>Разложение дисперсии ошибки прогноза</vt:lpstr>
      <vt:lpstr>Вклад переменных в ВВП Индии</vt:lpstr>
      <vt:lpstr>Вклад переменных в ВВП Китая</vt:lpstr>
      <vt:lpstr>Приложение (1) (тесты на стационарность)</vt:lpstr>
      <vt:lpstr>Приложение (2) (тесты на коинтеграцию)</vt:lpstr>
      <vt:lpstr>Приложение (3) (Причинность по Грейнджеру)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Сравнительный анализ вклада фондового рынка в экономику Республики Индия и Китайской Народной Республики</dc:title>
  <dc:creator>Boris Klyukin</dc:creator>
  <cp:lastModifiedBy>Клюкин Борис Денисович</cp:lastModifiedBy>
  <cp:revision>30</cp:revision>
  <cp:lastPrinted>2026-03-30T10:48:19Z</cp:lastPrinted>
  <dcterms:created xsi:type="dcterms:W3CDTF">2006-08-16T00:00:00Z</dcterms:created>
  <dcterms:modified xsi:type="dcterms:W3CDTF">2026-03-30T11:27:15Z</dcterms:modified>
</cp:coreProperties>
</file>