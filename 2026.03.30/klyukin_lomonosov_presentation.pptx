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9" r:id="rId3"/>
    <p:sldId id="280" r:id="rId4"/>
    <p:sldId id="257" r:id="rId5"/>
    <p:sldId id="258" r:id="rId6"/>
    <p:sldId id="259" r:id="rId7"/>
    <p:sldId id="270" r:id="rId8"/>
    <p:sldId id="260" r:id="rId9"/>
    <p:sldId id="261" r:id="rId10"/>
    <p:sldId id="262" r:id="rId11"/>
    <p:sldId id="271" r:id="rId12"/>
    <p:sldId id="264" r:id="rId13"/>
    <p:sldId id="263" r:id="rId14"/>
    <p:sldId id="277" r:id="rId15"/>
    <p:sldId id="279" r:id="rId16"/>
    <p:sldId id="274" r:id="rId17"/>
    <p:sldId id="275" r:id="rId18"/>
    <p:sldId id="276" r:id="rId19"/>
    <p:sldId id="272" r:id="rId20"/>
    <p:sldId id="266" r:id="rId21"/>
    <p:sldId id="265" r:id="rId22"/>
    <p:sldId id="273" r:id="rId23"/>
    <p:sldId id="267" r:id="rId24"/>
    <p:sldId id="268" r:id="rId25"/>
    <p:sldId id="281" r:id="rId26"/>
    <p:sldId id="285" r:id="rId27"/>
    <p:sldId id="286" r:id="rId28"/>
    <p:sldId id="287" r:id="rId29"/>
    <p:sldId id="289" r:id="rId30"/>
    <p:sldId id="288" r:id="rId31"/>
    <p:sldId id="290" r:id="rId32"/>
    <p:sldId id="291" r:id="rId33"/>
    <p:sldId id="282" r:id="rId34"/>
    <p:sldId id="283" r:id="rId35"/>
    <p:sldId id="284" r:id="rId36"/>
  </p:sldIdLst>
  <p:sldSz cx="10160000" cy="5715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320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66"/>
    <a:srgbClr val="FF8669"/>
    <a:srgbClr val="FF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70" autoAdjust="0"/>
    <p:restoredTop sz="94622" autoAdjust="0"/>
  </p:normalViewPr>
  <p:slideViewPr>
    <p:cSldViewPr>
      <p:cViewPr varScale="1">
        <p:scale>
          <a:sx n="130" d="100"/>
          <a:sy n="130" d="100"/>
        </p:scale>
        <p:origin x="462" y="120"/>
      </p:cViewPr>
      <p:guideLst>
        <p:guide orient="horz" pos="1800"/>
        <p:guide pos="3200"/>
      </p:guideLst>
    </p:cSldViewPr>
  </p:slideViewPr>
  <p:outlineViewPr>
    <p:cViewPr>
      <p:scale>
        <a:sx n="33" d="100"/>
        <a:sy n="33" d="100"/>
      </p:scale>
      <p:origin x="54" y="200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8923" y="1143000"/>
            <a:ext cx="9144000" cy="15240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524000" y="2776415"/>
            <a:ext cx="71120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189" indent="0" algn="ctr">
              <a:buNone/>
            </a:lvl2pPr>
            <a:lvl3pPr marL="914377" indent="0" algn="ctr">
              <a:buNone/>
            </a:lvl3pPr>
            <a:lvl4pPr marL="1371566" indent="0" algn="ctr">
              <a:buNone/>
            </a:lvl4pPr>
            <a:lvl5pPr marL="1828754" indent="0" algn="ctr">
              <a:buNone/>
            </a:lvl5pPr>
            <a:lvl6pPr marL="2285943" indent="0" algn="ctr">
              <a:buNone/>
            </a:lvl6pPr>
            <a:lvl7pPr marL="2743131" indent="0" algn="ctr">
              <a:buNone/>
            </a:lvl7pPr>
            <a:lvl8pPr marL="3200320" indent="0" algn="ctr">
              <a:buNone/>
            </a:lvl8pPr>
            <a:lvl9pPr marL="3657509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0" y="508000"/>
            <a:ext cx="7874000" cy="15240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00" y="2089829"/>
            <a:ext cx="7874000" cy="1258093"/>
          </a:xfrm>
        </p:spPr>
        <p:txBody>
          <a:bodyPr anchor="t"/>
          <a:lstStyle>
            <a:lvl1pPr marL="73150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5333" y="5347237"/>
            <a:ext cx="846667" cy="30427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333500"/>
            <a:ext cx="4487333" cy="37716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64670" y="1333500"/>
            <a:ext cx="4487333" cy="3771636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27542"/>
            <a:ext cx="9144000" cy="9525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3" y="1279263"/>
            <a:ext cx="4489099" cy="625739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5161144" y="1279263"/>
            <a:ext cx="4490861" cy="625739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508003" y="1968500"/>
            <a:ext cx="4489099" cy="3136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1144" y="1968500"/>
            <a:ext cx="4490861" cy="3136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27549"/>
            <a:ext cx="3342571" cy="968375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08001" y="1270000"/>
            <a:ext cx="3342571" cy="3835136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972280" y="227542"/>
            <a:ext cx="5679723" cy="4877594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2000" y="508000"/>
            <a:ext cx="6096000" cy="435240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32000" y="1526646"/>
            <a:ext cx="6096000" cy="33020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indent="0" algn="l" rtl="0" eaLnBrk="1" latinLnBrk="0" hangingPunct="1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2000" y="972323"/>
            <a:ext cx="6096000" cy="441960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6000" y="228872"/>
            <a:ext cx="2286000" cy="4876271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2" y="228872"/>
            <a:ext cx="6688667" cy="4876271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508000" y="228865"/>
            <a:ext cx="9144000" cy="9525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508000" y="1333500"/>
            <a:ext cx="9144000" cy="39243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08003" y="5347237"/>
            <a:ext cx="2370667" cy="304271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471336" y="5347237"/>
            <a:ext cx="3217333" cy="304271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805333" y="5347237"/>
            <a:ext cx="846667" cy="304271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26" indent="-41147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58" indent="-283457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28" indent="-228594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278" indent="-182875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297" indent="-182875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48" indent="-182875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11" indent="-182875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074" indent="-182875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37" indent="-182875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031" y="2628900"/>
            <a:ext cx="8229600" cy="1524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Сравнительный анализ вклада фондового рынка в экономику Республики Индия и Китайской Народной Республики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9600" y="4262315"/>
            <a:ext cx="6400800" cy="1460500"/>
          </a:xfrm>
        </p:spPr>
        <p:txBody>
          <a:bodyPr>
            <a:normAutofit fontScale="55000" lnSpcReduction="20000"/>
          </a:bodyPr>
          <a:lstStyle/>
          <a:p>
            <a:r>
              <a:rPr lang="ru-RU" dirty="0" smtClean="0"/>
              <a:t>Клюкин Б.Д.</a:t>
            </a:r>
            <a:endParaRPr lang="en-US" dirty="0" smtClean="0"/>
          </a:p>
          <a:p>
            <a:r>
              <a:rPr lang="ru-RU" dirty="0" smtClean="0"/>
              <a:t>ИСАА МГУ им. М.В.Ломоносова, аспирант кафедры международных экономических отношений стран Азии и Африки</a:t>
            </a:r>
            <a:endParaRPr lang="en-US" dirty="0" smtClean="0"/>
          </a:p>
          <a:p>
            <a:r>
              <a:rPr lang="ru-RU" dirty="0" smtClean="0"/>
              <a:t>Фонда Развития Промышленности, Старший аналитик департамента анализа экономики промышленности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1800" y="5399901"/>
            <a:ext cx="1676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solidFill>
                  <a:schemeClr val="tx1">
                    <a:lumMod val="75000"/>
                  </a:schemeClr>
                </a:solidFill>
              </a:rPr>
              <a:t>МОСКВА,</a:t>
            </a:r>
            <a:r>
              <a:rPr lang="en-US" sz="1200" dirty="0" smtClean="0">
                <a:solidFill>
                  <a:schemeClr val="tx1">
                    <a:lumMod val="75000"/>
                  </a:schemeClr>
                </a:solidFill>
              </a:rPr>
              <a:t> 30</a:t>
            </a:r>
            <a:r>
              <a:rPr lang="ru-RU" sz="1200" dirty="0" smtClean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lang="en-US" sz="1200" dirty="0" smtClean="0">
                <a:solidFill>
                  <a:schemeClr val="tx1">
                    <a:lumMod val="75000"/>
                  </a:schemeClr>
                </a:solidFill>
              </a:rPr>
              <a:t>03</a:t>
            </a:r>
            <a:r>
              <a:rPr lang="ru-RU" sz="1200" dirty="0" smtClean="0">
                <a:solidFill>
                  <a:schemeClr val="tx1">
                    <a:lumMod val="75000"/>
                  </a:schemeClr>
                </a:solidFill>
              </a:rPr>
              <a:t>.202</a:t>
            </a:r>
            <a:r>
              <a:rPr lang="en-US" sz="1200" dirty="0" smtClean="0">
                <a:solidFill>
                  <a:schemeClr val="tx1">
                    <a:lumMod val="75000"/>
                  </a:schemeClr>
                </a:solidFill>
              </a:rPr>
              <a:t>6</a:t>
            </a:r>
            <a:endParaRPr lang="ru-RU" sz="12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34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Обоснование </a:t>
            </a:r>
            <a:r>
              <a:rPr lang="ru-RU" dirty="0"/>
              <a:t>исследования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00" y="2089828"/>
            <a:ext cx="6324600" cy="1258093"/>
          </a:xfrm>
        </p:spPr>
        <p:txBody>
          <a:bodyPr>
            <a:noAutofit/>
          </a:bodyPr>
          <a:lstStyle/>
          <a:p>
            <a:pPr algn="just"/>
            <a:r>
              <a:rPr lang="ru-RU" dirty="0"/>
              <a:t>Взаимосвязь между развитием финансового сектора и экономическим ростом остается предметом активных теоретических и эмпирических дискуссий. Несмотря на общее признание важности устойчивой финансовой системы, </a:t>
            </a:r>
            <a:r>
              <a:rPr lang="ru-RU" b="1" dirty="0"/>
              <a:t>конкретное влияние фондовых рынков на экономику трактуется неоднозначно</a:t>
            </a:r>
            <a:r>
              <a:rPr lang="ru-RU" b="1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5675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Исходные данные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8200" y="2089828"/>
            <a:ext cx="6324600" cy="1258093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Исходные данные позволяют </a:t>
            </a:r>
            <a:r>
              <a:rPr lang="ru-RU" dirty="0" smtClean="0"/>
              <a:t>сравнить </a:t>
            </a:r>
            <a:r>
              <a:rPr lang="ru-RU" dirty="0"/>
              <a:t>размеры ВВП, экспорта, долга и фондового рынка каждой страны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 </a:t>
            </a:r>
            <a:r>
              <a:rPr lang="ru-RU" dirty="0"/>
              <a:t>выдвинуть ряд гипотез относительно </a:t>
            </a:r>
            <a:r>
              <a:rPr lang="ru-RU" dirty="0" smtClean="0"/>
              <a:t>вклада </a:t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экономический рост </a:t>
            </a:r>
            <a:r>
              <a:rPr lang="ru-RU" dirty="0" smtClean="0"/>
              <a:t>каждой из них.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102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Динамика показателей</a:t>
            </a:r>
            <a:endParaRPr lang="en-US" dirty="0"/>
          </a:p>
        </p:txBody>
      </p:sp>
      <p:pic>
        <p:nvPicPr>
          <p:cNvPr id="1026" name="Picture 2" descr="C:\Users\bklyu\Documents\Python Scripts\_GitHub_repos\conferences\lomonosov readings 2026\explore_data\relationship_level_bo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551215"/>
            <a:ext cx="8778240" cy="26125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21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</a:t>
            </a:r>
            <a:r>
              <a:rPr lang="ru-RU" dirty="0" smtClean="0"/>
              <a:t>показателей (Китай)</a:t>
            </a:r>
            <a:endParaRPr lang="en-US" dirty="0"/>
          </a:p>
        </p:txBody>
      </p:sp>
      <p:pic>
        <p:nvPicPr>
          <p:cNvPr id="2050" name="Picture 2" descr="C:\Users\bklyu\Documents\Python Scripts\_GitHub_repos\conferences\lomonosov readings 2026\explore_data\relationship_level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389295"/>
            <a:ext cx="8778240" cy="293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5574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</a:t>
            </a:r>
            <a:r>
              <a:rPr lang="ru-RU" dirty="0" smtClean="0"/>
              <a:t>показателей (Индия)</a:t>
            </a:r>
            <a:endParaRPr lang="en-US" dirty="0"/>
          </a:p>
        </p:txBody>
      </p:sp>
      <p:pic>
        <p:nvPicPr>
          <p:cNvPr id="3074" name="Picture 2" descr="C:\Users\bklyu\Documents\Python Scripts\_GitHub_repos\conferences\lomonosov readings 2026\explore_data\relationship_level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387659"/>
            <a:ext cx="8778240" cy="293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663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Абсолютные приросты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Абсолютные темпы роста, также известные как первые разности, позволяют </a:t>
            </a:r>
            <a:r>
              <a:rPr lang="ru-RU" dirty="0" smtClean="0"/>
              <a:t>сделать </a:t>
            </a:r>
            <a:r>
              <a:rPr lang="ru-RU" dirty="0"/>
              <a:t>данные </a:t>
            </a:r>
            <a:r>
              <a:rPr lang="ru-RU" dirty="0" smtClean="0"/>
              <a:t>стационарными, что </a:t>
            </a:r>
            <a:r>
              <a:rPr lang="ru-RU" dirty="0"/>
              <a:t>является одним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из </a:t>
            </a:r>
            <a:r>
              <a:rPr lang="ru-RU" dirty="0"/>
              <a:t>ключевых предположений большинства эконометрических методов, включая векторную авторегрессию. Первые разности также позволяют </a:t>
            </a:r>
            <a:r>
              <a:rPr lang="ru-RU" dirty="0" smtClean="0"/>
              <a:t>исследовать </a:t>
            </a:r>
            <a:r>
              <a:rPr lang="ru-RU" dirty="0"/>
              <a:t>причинно-следственную связь роста, исключая общие тренды.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16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показателей</a:t>
            </a:r>
            <a:endParaRPr lang="en-US" dirty="0"/>
          </a:p>
        </p:txBody>
      </p:sp>
      <p:pic>
        <p:nvPicPr>
          <p:cNvPr id="4098" name="Picture 2" descr="C:\Users\bklyu\Documents\Python Scripts\_GitHub_repos\conferences\lomonosov readings 2026\explore_data\relationship_diff_bot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517998"/>
            <a:ext cx="8778240" cy="2679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0440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показателей (Китай)</a:t>
            </a:r>
            <a:endParaRPr lang="en-US" dirty="0"/>
          </a:p>
        </p:txBody>
      </p:sp>
      <p:pic>
        <p:nvPicPr>
          <p:cNvPr id="5122" name="Picture 2" descr="C:\Users\bklyu\Documents\Python Scripts\_GitHub_repos\conferences\lomonosov readings 2026\explore_data\relationship_diff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377751"/>
            <a:ext cx="8778240" cy="295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01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Динамика показателей (Индия)</a:t>
            </a:r>
            <a:endParaRPr lang="en-US" dirty="0"/>
          </a:p>
        </p:txBody>
      </p:sp>
      <p:pic>
        <p:nvPicPr>
          <p:cNvPr id="6146" name="Picture 2" descr="C:\Users\bklyu\Documents\Python Scripts\_GitHub_repos\conferences\lomonosov readings 2026\explore_data\relationship_diff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382716"/>
            <a:ext cx="8778240" cy="2949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336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Векторная авторегрессия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Векторная авторегрессия (VAR — Vector AutoRegression) — это эконометрическая модель, используемая для анализа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и </a:t>
            </a:r>
            <a:r>
              <a:rPr lang="ru-RU" dirty="0"/>
              <a:t>прогнозирования нескольких взаимосвязанных временных рядов.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ней текущее значение каждой переменной </a:t>
            </a:r>
            <a:r>
              <a:rPr lang="ru-RU" dirty="0" smtClean="0"/>
              <a:t>зависит от </a:t>
            </a:r>
            <a:r>
              <a:rPr lang="ru-RU" dirty="0"/>
              <a:t>её собственных прошлых значений и от прошлых значений всех остальных переменных в системе. Она </a:t>
            </a:r>
            <a:r>
              <a:rPr lang="ru-RU" dirty="0" smtClean="0"/>
              <a:t>применяется </a:t>
            </a:r>
            <a:br>
              <a:rPr lang="ru-RU" dirty="0" smtClean="0"/>
            </a:br>
            <a:r>
              <a:rPr lang="ru-RU" dirty="0" smtClean="0"/>
              <a:t>для </a:t>
            </a:r>
            <a:r>
              <a:rPr lang="ru-RU" dirty="0"/>
              <a:t>моделирования динамики и взаимовлияния стационарных экономических показателей.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29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</a:t>
            </a:r>
            <a:r>
              <a:rPr lang="ru-RU" dirty="0"/>
              <a:t> </a:t>
            </a:r>
            <a:r>
              <a:rPr lang="ru-RU" dirty="0" smtClean="0"/>
              <a:t>Индии</a:t>
            </a:r>
            <a:r>
              <a:rPr lang="en-US" dirty="0" smtClean="0"/>
              <a:t>: </a:t>
            </a:r>
            <a:r>
              <a:rPr lang="ru-RU" dirty="0" smtClean="0"/>
              <a:t>спецификация</a:t>
            </a:r>
            <a:endParaRPr lang="en-US" dirty="0"/>
          </a:p>
        </p:txBody>
      </p:sp>
      <p:pic>
        <p:nvPicPr>
          <p:cNvPr id="8200" name="Picture 8" descr="C:\Users\bklyu\Documents\Python Scripts\_GitHub_repos\conferences\lomonosov readings 2026\explore_data\_gdp_obs_model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6" y="1485900"/>
            <a:ext cx="5486401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179781" y="2503558"/>
            <a:ext cx="1995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VAR(5)</a:t>
            </a:r>
          </a:p>
        </p:txBody>
      </p:sp>
    </p:spTree>
    <p:extLst>
      <p:ext uri="{BB962C8B-B14F-4D97-AF65-F5344CB8AC3E}">
        <p14:creationId xmlns:p14="http://schemas.microsoft.com/office/powerpoint/2010/main" val="386165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</a:t>
            </a:r>
            <a:r>
              <a:rPr lang="ru-RU" dirty="0"/>
              <a:t> Индии</a:t>
            </a:r>
            <a:r>
              <a:rPr lang="en-US" dirty="0"/>
              <a:t>: </a:t>
            </a:r>
            <a:r>
              <a:rPr lang="ru-RU" dirty="0" smtClean="0"/>
              <a:t>прогноз</a:t>
            </a:r>
            <a:endParaRPr lang="en-US" dirty="0"/>
          </a:p>
        </p:txBody>
      </p:sp>
      <p:pic>
        <p:nvPicPr>
          <p:cNvPr id="7172" name="Picture 4" descr="C:\Users\bklyu\Documents\Python Scripts\_GitHub_repos\conferences\lomonosov readings 2026\explore_data\_gdp_forecast_diff_india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33" t="6425" r="2951" b="6336"/>
          <a:stretch/>
        </p:blipFill>
        <p:spPr bwMode="auto">
          <a:xfrm>
            <a:off x="736600" y="1104900"/>
            <a:ext cx="3657600" cy="1752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C:\Users\bklyu\Documents\Python Scripts\_GitHub_repos\conferences\lomonosov readings 2026\explore_data\_gdp_forecast_value_india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0" t="6511" r="2691" b="5469"/>
          <a:stretch/>
        </p:blipFill>
        <p:spPr bwMode="auto">
          <a:xfrm>
            <a:off x="3222629" y="2697961"/>
            <a:ext cx="6248401" cy="2925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578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</a:t>
            </a:r>
            <a:r>
              <a:rPr lang="ru-RU" dirty="0"/>
              <a:t> </a:t>
            </a:r>
            <a:r>
              <a:rPr lang="ru-RU" dirty="0" smtClean="0"/>
              <a:t>Китая</a:t>
            </a:r>
            <a:r>
              <a:rPr lang="en-US" dirty="0" smtClean="0"/>
              <a:t>: </a:t>
            </a:r>
            <a:r>
              <a:rPr lang="ru-RU" dirty="0" smtClean="0"/>
              <a:t>спецификация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179781" y="2503558"/>
            <a:ext cx="1995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VAR(</a:t>
            </a:r>
            <a:r>
              <a:rPr lang="ru-RU" sz="4000" dirty="0"/>
              <a:t>2</a:t>
            </a:r>
            <a:r>
              <a:rPr lang="en-US" sz="4000" dirty="0"/>
              <a:t>)</a:t>
            </a:r>
          </a:p>
        </p:txBody>
      </p:sp>
      <p:pic>
        <p:nvPicPr>
          <p:cNvPr id="13314" name="Picture 2" descr="C:\Users\bklyu\Documents\Python Scripts\_GitHub_repos\conferences\lomonosov readings 2026\explore_data\_gdp_obs_model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400" y="1485900"/>
            <a:ext cx="54864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646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VAR</a:t>
            </a:r>
            <a:r>
              <a:rPr lang="ru-RU" dirty="0"/>
              <a:t> </a:t>
            </a:r>
            <a:r>
              <a:rPr lang="ru-RU" dirty="0" smtClean="0"/>
              <a:t>Китая</a:t>
            </a:r>
            <a:r>
              <a:rPr lang="en-US" dirty="0" smtClean="0"/>
              <a:t>: </a:t>
            </a:r>
            <a:r>
              <a:rPr lang="ru-RU" dirty="0" smtClean="0"/>
              <a:t>прогноз</a:t>
            </a:r>
            <a:endParaRPr lang="en-US" dirty="0"/>
          </a:p>
        </p:txBody>
      </p:sp>
      <p:pic>
        <p:nvPicPr>
          <p:cNvPr id="14338" name="Picture 2" descr="C:\Users\bklyu\Documents\Python Scripts\_GitHub_repos\conferences\lomonosov readings 2026\explore_data\_gdp_forecast_diff_china.pn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58" r="2865" b="6944"/>
          <a:stretch/>
        </p:blipFill>
        <p:spPr bwMode="auto">
          <a:xfrm>
            <a:off x="762795" y="1104904"/>
            <a:ext cx="3657600" cy="1622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9" name="Picture 3" descr="C:\Users\bklyu\Documents\Python Scripts\_GitHub_repos\conferences\lomonosov readings 2026\explore_data\_gdp_forecast_value_china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2" r="3211" b="6799"/>
          <a:stretch/>
        </p:blipFill>
        <p:spPr bwMode="auto">
          <a:xfrm>
            <a:off x="3222623" y="2781305"/>
            <a:ext cx="6309360" cy="281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914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Функции импульсных откликов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 smtClean="0"/>
              <a:t>Функции импульсных откликов (IRF – </a:t>
            </a:r>
            <a:r>
              <a:rPr lang="en-US" dirty="0" smtClean="0"/>
              <a:t>Impulse</a:t>
            </a:r>
            <a:r>
              <a:rPr lang="ru-RU" dirty="0" smtClean="0"/>
              <a:t> </a:t>
            </a:r>
            <a:r>
              <a:rPr lang="en-US" dirty="0" smtClean="0"/>
              <a:t>Response </a:t>
            </a:r>
            <a:r>
              <a:rPr lang="en-US" dirty="0"/>
              <a:t>Function</a:t>
            </a:r>
            <a:r>
              <a:rPr lang="ru-RU" dirty="0" smtClean="0"/>
              <a:t>) в векторной авторегрессии показывают, как шок (непредвиденное изменение) одной переменной влияет на текущие и будущие значения всех переменных системы. IRF позволяет оценить силу, направление и длительность реакции системы на внешний импульс, затухающий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со временем.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23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Отклик ВВП Китая </a:t>
            </a:r>
            <a:r>
              <a:rPr lang="ru-RU" dirty="0" smtClean="0"/>
              <a:t>на </a:t>
            </a:r>
            <a:r>
              <a:rPr lang="ru-RU" dirty="0"/>
              <a:t>шоки</a:t>
            </a:r>
            <a:endParaRPr lang="en-US" dirty="0"/>
          </a:p>
        </p:txBody>
      </p:sp>
      <p:pic>
        <p:nvPicPr>
          <p:cNvPr id="8195" name="Picture 3" descr="C:\Users\bklyu\Documents\Python Scripts\_GitHub_repos\conferences\lomonosov readings 2026\explore_data\irf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487746"/>
            <a:ext cx="8778240" cy="2739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882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Отклик ВВП </a:t>
            </a:r>
            <a:r>
              <a:rPr lang="ru-RU" dirty="0"/>
              <a:t>Индии </a:t>
            </a:r>
            <a:r>
              <a:rPr lang="ru-RU" dirty="0" smtClean="0"/>
              <a:t>на шоки</a:t>
            </a:r>
            <a:endParaRPr lang="en-US" dirty="0"/>
          </a:p>
        </p:txBody>
      </p:sp>
      <p:pic>
        <p:nvPicPr>
          <p:cNvPr id="7171" name="Picture 3" descr="C:\Users\bklyu\Documents\Python Scripts\_GitHub_repos\conferences\lomonosov readings 2026\explore_data\irf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487148"/>
            <a:ext cx="8778240" cy="2740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88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8200" y="508000"/>
            <a:ext cx="7543800" cy="1524000"/>
          </a:xfrm>
        </p:spPr>
        <p:txBody>
          <a:bodyPr/>
          <a:lstStyle/>
          <a:p>
            <a:r>
              <a:rPr lang="ru-RU" sz="4400" dirty="0"/>
              <a:t>Кумулятивная функция импульсных откликов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Кумулятивная функция импульсных откликов (</a:t>
            </a:r>
            <a:r>
              <a:rPr lang="ru-RU" dirty="0" smtClean="0"/>
              <a:t>CIRF – </a:t>
            </a:r>
            <a:r>
              <a:rPr lang="en-US" dirty="0" smtClean="0"/>
              <a:t>Cumulative Impulse</a:t>
            </a:r>
            <a:r>
              <a:rPr lang="ru-RU" dirty="0" smtClean="0"/>
              <a:t> </a:t>
            </a:r>
            <a:r>
              <a:rPr lang="en-US" dirty="0"/>
              <a:t>Response Function</a:t>
            </a:r>
            <a:r>
              <a:rPr lang="ru-RU" dirty="0" smtClean="0"/>
              <a:t>) </a:t>
            </a:r>
            <a:r>
              <a:rPr lang="ru-RU" dirty="0"/>
              <a:t>в моделях векторной </a:t>
            </a:r>
            <a:r>
              <a:rPr lang="ru-RU" dirty="0" smtClean="0"/>
              <a:t>авторегрессии </a:t>
            </a:r>
            <a:r>
              <a:rPr lang="ru-RU" dirty="0"/>
              <a:t>показывает совокупный долгосрочный эффект единовременного шока одной переменной на будущие значения других </a:t>
            </a:r>
            <a:r>
              <a:rPr lang="ru-RU" dirty="0" smtClean="0"/>
              <a:t>переменных.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В </a:t>
            </a:r>
            <a:r>
              <a:rPr lang="ru-RU" dirty="0"/>
              <a:t>отличие от обычного импульсного отклика, который показывает реакцию в конкретный момент времени, CIRF накапливает </a:t>
            </a:r>
            <a:r>
              <a:rPr lang="ru-RU" dirty="0" smtClean="0"/>
              <a:t>эти реакции, </a:t>
            </a:r>
            <a:r>
              <a:rPr lang="ru-RU" dirty="0"/>
              <a:t>позволяя оценить, приведет ли шок к постоянному изменению уровня переменной.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4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Накопленная </a:t>
            </a:r>
            <a:r>
              <a:rPr lang="ru-RU" dirty="0"/>
              <a:t>реакция </a:t>
            </a:r>
            <a:r>
              <a:rPr lang="ru-RU" dirty="0" smtClean="0"/>
              <a:t>Китая</a:t>
            </a:r>
            <a:endParaRPr lang="en-US" dirty="0"/>
          </a:p>
        </p:txBody>
      </p:sp>
      <p:pic>
        <p:nvPicPr>
          <p:cNvPr id="10242" name="Picture 2" descr="C:\Users\bklyu\Documents\Python Scripts\_GitHub_repos\conferences\lomonosov readings 2026\explore_data\cirf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467286"/>
            <a:ext cx="8778240" cy="2780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722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Накопленная реакция ВВП </a:t>
            </a:r>
            <a:r>
              <a:rPr lang="ru-RU" dirty="0"/>
              <a:t>Индии</a:t>
            </a:r>
            <a:endParaRPr lang="en-US" dirty="0"/>
          </a:p>
        </p:txBody>
      </p:sp>
      <p:pic>
        <p:nvPicPr>
          <p:cNvPr id="9219" name="Picture 3" descr="C:\Users\bklyu\Documents\Python Scripts\_GitHub_repos\conferences\lomonosov readings 2026\explore_data\cirf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475186"/>
            <a:ext cx="8778240" cy="27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03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Разложение дисперсии ошибки прогноза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 smtClean="0"/>
              <a:t>Разложение </a:t>
            </a:r>
            <a:r>
              <a:rPr lang="ru-RU" dirty="0"/>
              <a:t>дисперсии ошибки прогноза </a:t>
            </a:r>
            <a:r>
              <a:rPr lang="ru-RU" dirty="0" smtClean="0"/>
              <a:t>(FEVD – Forecast Error </a:t>
            </a:r>
            <a:r>
              <a:rPr lang="ru-RU" dirty="0"/>
              <a:t>Variance </a:t>
            </a:r>
            <a:r>
              <a:rPr lang="ru-RU" dirty="0" smtClean="0"/>
              <a:t>Decomposition), — </a:t>
            </a:r>
            <a:r>
              <a:rPr lang="ru-RU" dirty="0"/>
              <a:t>это метод в эконометрике (</a:t>
            </a:r>
            <a:r>
              <a:rPr lang="ru-RU"/>
              <a:t>обычно </a:t>
            </a:r>
            <a:r>
              <a:rPr lang="ru-RU" smtClean="0"/>
              <a:t/>
            </a:r>
            <a:br>
              <a:rPr lang="ru-RU" smtClean="0"/>
            </a:br>
            <a:r>
              <a:rPr lang="ru-RU" smtClean="0"/>
              <a:t>в </a:t>
            </a:r>
            <a:r>
              <a:rPr lang="ru-RU" dirty="0"/>
              <a:t>моделях VAR), определяющий, какой процент волатильности (дисперсии) одной переменной объясняется неожиданными шоками другой переменной. FEVD показывает </a:t>
            </a:r>
            <a:r>
              <a:rPr lang="ru-RU" b="1" dirty="0"/>
              <a:t>относительную важность каждого структурного шока </a:t>
            </a:r>
            <a:r>
              <a:rPr lang="ru-RU" b="1" dirty="0" smtClean="0"/>
              <a:t>для </a:t>
            </a:r>
            <a:r>
              <a:rPr lang="ru-RU" b="1" dirty="0"/>
              <a:t>переменных системы</a:t>
            </a:r>
            <a:r>
              <a:rPr lang="ru-RU" dirty="0"/>
              <a:t>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в </a:t>
            </a:r>
            <a:r>
              <a:rPr lang="ru-RU" dirty="0"/>
              <a:t>краткосрочной и долгосрочной перспективе.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44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Вклад переменных в ВВП Индии</a:t>
            </a:r>
            <a:endParaRPr lang="en-US" dirty="0"/>
          </a:p>
        </p:txBody>
      </p:sp>
      <p:pic>
        <p:nvPicPr>
          <p:cNvPr id="11266" name="Picture 2" descr="C:\Users\bklyu\Documents\Python Scripts\_GitHub_repos\conferences\lomonosov readings 2026\explore_data\fevd_indi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716334"/>
            <a:ext cx="8778240" cy="2282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74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Вклад переменных в ВВП </a:t>
            </a:r>
            <a:r>
              <a:rPr lang="ru-RU" dirty="0" smtClean="0"/>
              <a:t>Китая</a:t>
            </a:r>
            <a:endParaRPr lang="en-US" dirty="0"/>
          </a:p>
        </p:txBody>
      </p:sp>
      <p:pic>
        <p:nvPicPr>
          <p:cNvPr id="12290" name="Picture 2" descr="C:\Users\bklyu\Documents\Python Scripts\_GitHub_repos\conferences\lomonosov readings 2026\explore_data\fevd_chin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706579"/>
            <a:ext cx="8778240" cy="230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696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Выводы (1)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00" y="2089829"/>
            <a:ext cx="7721600" cy="1258093"/>
          </a:xfrm>
        </p:spPr>
        <p:txBody>
          <a:bodyPr>
            <a:noAutofit/>
          </a:bodyPr>
          <a:lstStyle/>
          <a:p>
            <a:pPr marL="416042" indent="-342891" algn="just">
              <a:buFont typeface="Arial" panose="020B0604020202020204" pitchFamily="34" charset="0"/>
              <a:buChar char="•"/>
            </a:pPr>
            <a:r>
              <a:rPr lang="ru-RU" dirty="0" smtClean="0"/>
              <a:t>Долгосрочный тренд </a:t>
            </a:r>
            <a:r>
              <a:rPr lang="ru-RU" dirty="0"/>
              <a:t>совместного </a:t>
            </a:r>
            <a:r>
              <a:rPr lang="ru-RU" dirty="0" smtClean="0"/>
              <a:t>роста (</a:t>
            </a:r>
            <a:r>
              <a:rPr lang="ru-RU" dirty="0" err="1" smtClean="0"/>
              <a:t>коинтеграция</a:t>
            </a:r>
            <a:r>
              <a:rPr lang="ru-RU" dirty="0" smtClean="0"/>
              <a:t>):</a:t>
            </a:r>
          </a:p>
          <a:p>
            <a:pPr marL="870945" lvl="1" indent="-285744" algn="just">
              <a:buFont typeface="Arial" panose="020B0604020202020204" pitchFamily="34" charset="0"/>
              <a:buChar char="•"/>
            </a:pPr>
            <a:r>
              <a:rPr lang="ru-RU" dirty="0" smtClean="0"/>
              <a:t>В </a:t>
            </a:r>
            <a:r>
              <a:rPr lang="ru-RU" b="1" dirty="0" smtClean="0"/>
              <a:t>Индии</a:t>
            </a:r>
            <a:r>
              <a:rPr lang="ru-RU" dirty="0" smtClean="0"/>
              <a:t>: экономика растет совместно с рыночной капитализацией.</a:t>
            </a:r>
          </a:p>
          <a:p>
            <a:pPr marL="870945" lvl="1" indent="-285744" algn="just">
              <a:buFont typeface="Arial" panose="020B0604020202020204" pitchFamily="34" charset="0"/>
              <a:buChar char="•"/>
            </a:pPr>
            <a:r>
              <a:rPr lang="ru-RU" dirty="0" smtClean="0"/>
              <a:t>В</a:t>
            </a:r>
            <a:r>
              <a:rPr lang="ru-RU" dirty="0"/>
              <a:t> </a:t>
            </a:r>
            <a:r>
              <a:rPr lang="ru-RU" b="1" dirty="0"/>
              <a:t>Китае</a:t>
            </a:r>
            <a:r>
              <a:rPr lang="ru-RU" dirty="0"/>
              <a:t>: экономика растет совместно с задолженностью.</a:t>
            </a:r>
          </a:p>
          <a:p>
            <a:pPr marL="416042" indent="-342891" algn="just">
              <a:buFont typeface="Arial" panose="020B0604020202020204" pitchFamily="34" charset="0"/>
              <a:buChar char="•"/>
            </a:pPr>
            <a:r>
              <a:rPr lang="ru-RU" dirty="0"/>
              <a:t>Отсутствие долгосрочных связей не исключает значимых краткосрочных взаимодействий между переменными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34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Выводы (2)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8000" y="2089829"/>
            <a:ext cx="7264400" cy="1258093"/>
          </a:xfrm>
        </p:spPr>
        <p:txBody>
          <a:bodyPr>
            <a:noAutofit/>
          </a:bodyPr>
          <a:lstStyle/>
          <a:p>
            <a:pPr marL="416042" indent="-342891" algn="just">
              <a:buFont typeface="Arial" panose="020B0604020202020204" pitchFamily="34" charset="0"/>
              <a:buChar char="•"/>
            </a:pPr>
            <a:r>
              <a:rPr lang="ru-RU" dirty="0"/>
              <a:t>Направление влияния на ВВП </a:t>
            </a:r>
            <a:r>
              <a:rPr lang="ru-RU" dirty="0" smtClean="0"/>
              <a:t>(кумулятивный отклик):</a:t>
            </a:r>
          </a:p>
          <a:p>
            <a:pPr marL="1211550" lvl="1" indent="-342891" algn="just">
              <a:buFont typeface="Arial" panose="020B0604020202020204" pitchFamily="34" charset="0"/>
              <a:buChar char="•"/>
            </a:pPr>
            <a:r>
              <a:rPr lang="ru-RU" b="1" dirty="0" smtClean="0"/>
              <a:t>В </a:t>
            </a:r>
            <a:r>
              <a:rPr lang="ru-RU" b="1" dirty="0"/>
              <a:t>Индии</a:t>
            </a:r>
            <a:r>
              <a:rPr lang="ru-RU" dirty="0"/>
              <a:t> положительное влияние на ВВП оказывают: рыночная капитализация, задолженность и экспорт </a:t>
            </a:r>
            <a:r>
              <a:rPr lang="ru-RU" dirty="0" smtClean="0"/>
              <a:t>товаров </a:t>
            </a:r>
            <a:r>
              <a:rPr lang="ru-RU" dirty="0"/>
              <a:t>и </a:t>
            </a:r>
            <a:r>
              <a:rPr lang="ru-RU" dirty="0" smtClean="0"/>
              <a:t>услуг.</a:t>
            </a:r>
          </a:p>
          <a:p>
            <a:pPr marL="1211550" lvl="1" indent="-342891" algn="just">
              <a:buFont typeface="Arial" panose="020B0604020202020204" pitchFamily="34" charset="0"/>
              <a:buChar char="•"/>
            </a:pPr>
            <a:r>
              <a:rPr lang="ru-RU" b="1" dirty="0" smtClean="0"/>
              <a:t>В </a:t>
            </a:r>
            <a:r>
              <a:rPr lang="ru-RU" b="1" dirty="0"/>
              <a:t>Китае</a:t>
            </a:r>
            <a:r>
              <a:rPr lang="ru-RU" dirty="0"/>
              <a:t> структура влияния аналогична, за исключением ключевого отличия: рыночная капитализация оказывает </a:t>
            </a:r>
            <a:r>
              <a:rPr lang="ru-RU" b="1" dirty="0"/>
              <a:t>отрицательное</a:t>
            </a:r>
            <a:r>
              <a:rPr lang="ru-RU" dirty="0"/>
              <a:t> влияние на ВВП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31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Выводы (3)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16042" indent="-342891" algn="just">
              <a:buFont typeface="Arial" panose="020B0604020202020204" pitchFamily="34" charset="0"/>
              <a:buChar char="•"/>
            </a:pPr>
            <a:r>
              <a:rPr lang="ru-RU" dirty="0" smtClean="0"/>
              <a:t>Переменные (не ВВП) объясняют не большой </a:t>
            </a:r>
            <a:r>
              <a:rPr lang="ru-RU" dirty="0"/>
              <a:t>объем вариации ВВП в </a:t>
            </a:r>
            <a:r>
              <a:rPr lang="ru-RU" b="1" dirty="0"/>
              <a:t>Индии (≈30%)</a:t>
            </a:r>
            <a:r>
              <a:rPr lang="ru-RU" dirty="0"/>
              <a:t> , чем в </a:t>
            </a:r>
            <a:r>
              <a:rPr lang="ru-RU" b="1" dirty="0"/>
              <a:t>Китае (≈10</a:t>
            </a:r>
            <a:r>
              <a:rPr lang="ru-RU" b="1" dirty="0" smtClean="0"/>
              <a:t>%)</a:t>
            </a:r>
            <a:r>
              <a:rPr lang="ru-RU" dirty="0" smtClean="0"/>
              <a:t>:</a:t>
            </a:r>
          </a:p>
          <a:p>
            <a:pPr marL="1211550" lvl="1" indent="-342891" algn="just">
              <a:buFont typeface="Arial" panose="020B0604020202020204" pitchFamily="34" charset="0"/>
              <a:buChar char="•"/>
            </a:pPr>
            <a:r>
              <a:rPr lang="ru-RU" b="1" dirty="0" smtClean="0"/>
              <a:t>Индия</a:t>
            </a:r>
            <a:r>
              <a:rPr lang="ru-RU" b="1" dirty="0"/>
              <a:t>:</a:t>
            </a:r>
            <a:r>
              <a:rPr lang="ru-RU" dirty="0"/>
              <a:t> основную объяснительную силу несет </a:t>
            </a:r>
            <a:r>
              <a:rPr lang="ru-RU" b="1" dirty="0"/>
              <a:t>капитализация (≈15%)</a:t>
            </a:r>
            <a:r>
              <a:rPr lang="ru-RU" dirty="0"/>
              <a:t> , далее следуют задолженность и экспорт (по 7.5% каждый</a:t>
            </a:r>
            <a:r>
              <a:rPr lang="ru-RU" dirty="0" smtClean="0"/>
              <a:t>).</a:t>
            </a:r>
          </a:p>
          <a:p>
            <a:pPr marL="1211550" lvl="1" indent="-342891" algn="just">
              <a:buFont typeface="Arial" panose="020B0604020202020204" pitchFamily="34" charset="0"/>
              <a:buChar char="•"/>
            </a:pPr>
            <a:r>
              <a:rPr lang="ru-RU" b="1" dirty="0" smtClean="0"/>
              <a:t>Китай</a:t>
            </a:r>
            <a:r>
              <a:rPr lang="ru-RU" b="1" dirty="0"/>
              <a:t>:</a:t>
            </a:r>
            <a:r>
              <a:rPr lang="ru-RU" dirty="0"/>
              <a:t> ключевым фактором является </a:t>
            </a:r>
            <a:r>
              <a:rPr lang="ru-RU" b="1" dirty="0"/>
              <a:t>задолженность (≈5%)</a:t>
            </a:r>
            <a:r>
              <a:rPr lang="ru-RU" dirty="0"/>
              <a:t> ,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за </a:t>
            </a:r>
            <a:r>
              <a:rPr lang="ru-RU" dirty="0"/>
              <a:t>ней следуют экспорт (≈3%) и капитализация (≈2</a:t>
            </a:r>
            <a:r>
              <a:rPr lang="ru-RU" dirty="0" smtClean="0"/>
              <a:t>%).</a:t>
            </a: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83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smtClean="0"/>
              <a:t>Заключение по Индии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Для экономики Республики Индия </a:t>
            </a:r>
            <a:r>
              <a:rPr lang="ru-RU" dirty="0" smtClean="0"/>
              <a:t>особую </a:t>
            </a:r>
            <a:r>
              <a:rPr lang="ru-RU" dirty="0"/>
              <a:t>роль играют фондовые рынки. Это объясняется относительно более легким доступом к биржевому финансированию по сравнению с банковским кредитованием. В пользу этого тезиса свидетельствует значительное количество публичных компаний, чьи акции находятся в </a:t>
            </a:r>
            <a:r>
              <a:rPr lang="ru-RU" dirty="0" smtClean="0"/>
              <a:t>котировальных списках, но чьи акции не торгуются. </a:t>
            </a:r>
            <a:r>
              <a:rPr lang="ru-RU" dirty="0"/>
              <a:t>Роль банковского сектора, напротив, оказывается менее выраженной ввиду сохраняющихся сложностей с выдачей кредитов малому и среднему бизнесу (МСП), включая жесткие требования к </a:t>
            </a:r>
            <a:r>
              <a:rPr lang="ru-RU" dirty="0" smtClean="0"/>
              <a:t>обеспечению.</a:t>
            </a:r>
            <a:endParaRPr lang="ru-RU" dirty="0"/>
          </a:p>
          <a:p>
            <a:pPr algn="just"/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07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Рекомендации </a:t>
            </a:r>
            <a:r>
              <a:rPr lang="ru-RU" sz="4400" dirty="0" smtClean="0"/>
              <a:t>для Индии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16050" indent="-342900" algn="just">
              <a:buFont typeface="Arial" panose="020B0604020202020204" pitchFamily="34" charset="0"/>
              <a:buChar char="•"/>
            </a:pPr>
            <a:r>
              <a:rPr lang="ru-RU" dirty="0" smtClean="0"/>
              <a:t>Развивать </a:t>
            </a:r>
            <a:r>
              <a:rPr lang="ru-RU" dirty="0"/>
              <a:t>специализированные механизмы финансирования МСП, включая </a:t>
            </a:r>
            <a:r>
              <a:rPr lang="ru-RU" dirty="0" err="1"/>
              <a:t>секьюритизацию</a:t>
            </a:r>
            <a:r>
              <a:rPr lang="ru-RU" dirty="0"/>
              <a:t> портфелей кредитов и развитие альтернативных биржевых площадок (платформ для МСП). </a:t>
            </a:r>
            <a:endParaRPr lang="ru-RU" dirty="0" smtClean="0"/>
          </a:p>
          <a:p>
            <a:pPr marL="416050" indent="-342900" algn="just">
              <a:buFont typeface="Arial" panose="020B0604020202020204" pitchFamily="34" charset="0"/>
              <a:buChar char="•"/>
            </a:pPr>
            <a:r>
              <a:rPr lang="ru-RU" dirty="0" smtClean="0"/>
              <a:t>Усилить </a:t>
            </a:r>
            <a:r>
              <a:rPr lang="ru-RU" dirty="0"/>
              <a:t>пост-листинговый контроль за компаниями, вышедшими на биржу, с целью повышения прозрачности корпоративного управления и защиты прав миноритарных акционеров.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138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smtClean="0"/>
              <a:t>Заключение по Китаю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dirty="0"/>
              <a:t>В Китайской Народной Республике структура финансовой системы характеризуется доминированием банковского сектора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над </a:t>
            </a:r>
            <a:r>
              <a:rPr lang="ru-RU" dirty="0"/>
              <a:t>рыночными механизмами финансирования. Это объясняется приоритетным доступом к кредитным ресурсам государственных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 </a:t>
            </a:r>
            <a:r>
              <a:rPr lang="ru-RU" dirty="0" err="1"/>
              <a:t>окологосударственных</a:t>
            </a:r>
            <a:r>
              <a:rPr lang="ru-RU" dirty="0"/>
              <a:t> компаний, которые, однако, создают относительно небольшую долю ВВП по сравнению с частным сектором. Фондовый рынок остается недоиспользованным источником экономического роста ввиду активного административного регулирования и периодических интервенций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со </a:t>
            </a:r>
            <a:r>
              <a:rPr lang="ru-RU" dirty="0"/>
              <a:t>стороны государства, направленных на поддержание стабильности</a:t>
            </a:r>
            <a:r>
              <a:rPr lang="ru-RU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29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/>
              <a:t>Рекомендации для </a:t>
            </a:r>
            <a:r>
              <a:rPr lang="ru-RU" sz="4400" dirty="0" smtClean="0"/>
              <a:t>Китая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416050" indent="-342900" algn="just">
              <a:buFont typeface="Arial" panose="020B0604020202020204" pitchFamily="34" charset="0"/>
              <a:buChar char="•"/>
            </a:pPr>
            <a:r>
              <a:rPr lang="ru-RU" dirty="0"/>
              <a:t>Расширить практику кредитования негосударственного сектора, включая малые и средние предприятия, с целью повышения эффективности распределения капитала. </a:t>
            </a:r>
            <a:endParaRPr lang="ru-RU" dirty="0" smtClean="0"/>
          </a:p>
          <a:p>
            <a:pPr marL="416050" indent="-342900" algn="just">
              <a:buFont typeface="Arial" panose="020B0604020202020204" pitchFamily="34" charset="0"/>
              <a:buChar char="•"/>
            </a:pPr>
            <a:r>
              <a:rPr lang="ru-RU" dirty="0" smtClean="0"/>
              <a:t>Повысить </a:t>
            </a:r>
            <a:r>
              <a:rPr lang="ru-RU" dirty="0"/>
              <a:t>прозрачность регулирования фондового рынка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и </a:t>
            </a:r>
            <a:r>
              <a:rPr lang="ru-RU" dirty="0"/>
              <a:t>снизить масштаб административных интервенций, усилив роль </a:t>
            </a:r>
            <a:r>
              <a:rPr lang="ru-RU" dirty="0" smtClean="0"/>
              <a:t>регулятора в </a:t>
            </a:r>
            <a:r>
              <a:rPr lang="ru-RU" dirty="0"/>
              <a:t>обеспечении равного доступа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 </a:t>
            </a:r>
            <a:r>
              <a:rPr lang="ru-RU" dirty="0"/>
              <a:t>листингу и защите прав инвесторов.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723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400" dirty="0" smtClean="0"/>
              <a:t>Спасибо за внимание</a:t>
            </a: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0" y="2089829"/>
            <a:ext cx="7620000" cy="1258093"/>
          </a:xfrm>
        </p:spPr>
        <p:txBody>
          <a:bodyPr>
            <a:noAutofit/>
          </a:bodyPr>
          <a:lstStyle/>
          <a:p>
            <a:pPr algn="just"/>
            <a:endParaRPr lang="ru-RU" dirty="0"/>
          </a:p>
          <a:p>
            <a:pPr algn="just"/>
            <a:r>
              <a:rPr lang="en-US" dirty="0"/>
              <a:t>https://istina.msu.ru/workers/804267400/publications/</a:t>
            </a:r>
            <a:endParaRPr lang="ru-RU" dirty="0"/>
          </a:p>
          <a:p>
            <a:pPr algn="just"/>
            <a:endParaRPr lang="en-US" dirty="0" smtClean="0"/>
          </a:p>
          <a:p>
            <a:pPr algn="just"/>
            <a:endParaRPr lang="en-US" dirty="0"/>
          </a:p>
          <a:p>
            <a:pPr algn="just"/>
            <a:r>
              <a:rPr lang="en-US" dirty="0" smtClean="0"/>
              <a:t>https</a:t>
            </a:r>
            <a:r>
              <a:rPr lang="en-US" dirty="0"/>
              <a:t>://</a:t>
            </a:r>
            <a:r>
              <a:rPr lang="en-US" dirty="0" smtClean="0"/>
              <a:t>github.com/BDKlyukin/conferences</a:t>
            </a:r>
            <a:endParaRPr lang="ru-RU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r>
              <a:rPr lang="en-US" dirty="0"/>
              <a:t>https://</a:t>
            </a:r>
            <a:r>
              <a:rPr lang="en-US" dirty="0" smtClean="0"/>
              <a:t>orcid.org/my-orcid?orcid=0009-0000-8038-6035</a:t>
            </a:r>
            <a:endParaRPr lang="ru-RU" dirty="0" smtClean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  <p:pic>
        <p:nvPicPr>
          <p:cNvPr id="4098" name="Picture 2" descr="ИСТИНА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88" y="2113783"/>
            <a:ext cx="1094594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File:ORCID iD.svg - Wikimedia Comm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949" y="4305300"/>
            <a:ext cx="1080000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015" y="3209541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22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Приложение (1)</a:t>
            </a:r>
            <a:br>
              <a:rPr lang="ru-RU" dirty="0" smtClean="0"/>
            </a:br>
            <a:r>
              <a:rPr lang="ru-RU" dirty="0" smtClean="0"/>
              <a:t>(тесты на стационарность)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071712"/>
              </p:ext>
            </p:extLst>
          </p:nvPr>
        </p:nvGraphicFramePr>
        <p:xfrm>
          <a:off x="698500" y="1795220"/>
          <a:ext cx="8763000" cy="3272085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62461293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77342881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86161076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77029216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69307727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871174998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56250895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1349321063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232355376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750155348"/>
                    </a:ext>
                  </a:extLst>
                </a:gridCol>
              </a:tblGrid>
              <a:tr h="68008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Country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Parameter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ADF p-value (level data)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DFGLS p-value (level 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PhillipsPerron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p-value (level 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KPSS p-value (level 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ADF p-value (differenced data)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DFGLS p-value (differenced 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PhillipsPerron</a:t>
                      </a:r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p-value (differenced 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KPSS p-value (differenced 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224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ВВП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98,06%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30649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Капитализация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93,34%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84,82%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98,82%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199575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Задолженность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99,90%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5,78%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511433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Экспорт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60,87%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77,49%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63,34%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4534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ВВП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99,75%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99,99%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99,90%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6,23%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845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Капитализация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91,80%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86,32%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95,24%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172007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Задолженность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99,57%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22,99%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17,82%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1,04%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975364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Экспорт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90,58%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98,28%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92,55%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10,00%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365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41995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Приложение </a:t>
            </a:r>
            <a:r>
              <a:rPr lang="ru-RU" dirty="0" smtClean="0"/>
              <a:t>(2)</a:t>
            </a:r>
            <a:r>
              <a:rPr lang="ru-RU" smtClean="0"/>
              <a:t/>
            </a:r>
            <a:br>
              <a:rPr lang="ru-RU" smtClean="0"/>
            </a:br>
            <a:r>
              <a:rPr lang="ru-RU" smtClean="0"/>
              <a:t>(тесты </a:t>
            </a:r>
            <a:r>
              <a:rPr lang="ru-RU" dirty="0" smtClean="0"/>
              <a:t>на </a:t>
            </a:r>
            <a:r>
              <a:rPr lang="ru-RU" dirty="0" err="1" smtClean="0"/>
              <a:t>коинтеграцию</a:t>
            </a:r>
            <a:r>
              <a:rPr lang="ru-RU" dirty="0" smtClean="0"/>
              <a:t>)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893036"/>
              </p:ext>
            </p:extLst>
          </p:nvPr>
        </p:nvGraphicFramePr>
        <p:xfrm>
          <a:off x="2167343" y="1867500"/>
          <a:ext cx="5825322" cy="1980000"/>
        </p:xfrm>
        <a:graphic>
          <a:graphicData uri="http://schemas.openxmlformats.org/drawingml/2006/table">
            <a:tbl>
              <a:tblPr/>
              <a:tblGrid>
                <a:gridCol w="1188000">
                  <a:extLst>
                    <a:ext uri="{9D8B030D-6E8A-4147-A177-3AD203B41FA5}">
                      <a16:colId xmlns:a16="http://schemas.microsoft.com/office/drawing/2014/main" val="3843722094"/>
                    </a:ext>
                  </a:extLst>
                </a:gridCol>
                <a:gridCol w="772887">
                  <a:extLst>
                    <a:ext uri="{9D8B030D-6E8A-4147-A177-3AD203B41FA5}">
                      <a16:colId xmlns:a16="http://schemas.microsoft.com/office/drawing/2014/main" val="4223612404"/>
                    </a:ext>
                  </a:extLst>
                </a:gridCol>
                <a:gridCol w="772887">
                  <a:extLst>
                    <a:ext uri="{9D8B030D-6E8A-4147-A177-3AD203B41FA5}">
                      <a16:colId xmlns:a16="http://schemas.microsoft.com/office/drawing/2014/main" val="990804627"/>
                    </a:ext>
                  </a:extLst>
                </a:gridCol>
                <a:gridCol w="772887">
                  <a:extLst>
                    <a:ext uri="{9D8B030D-6E8A-4147-A177-3AD203B41FA5}">
                      <a16:colId xmlns:a16="http://schemas.microsoft.com/office/drawing/2014/main" val="1916253108"/>
                    </a:ext>
                  </a:extLst>
                </a:gridCol>
                <a:gridCol w="772887">
                  <a:extLst>
                    <a:ext uri="{9D8B030D-6E8A-4147-A177-3AD203B41FA5}">
                      <a16:colId xmlns:a16="http://schemas.microsoft.com/office/drawing/2014/main" val="2997361580"/>
                    </a:ext>
                  </a:extLst>
                </a:gridCol>
                <a:gridCol w="772887">
                  <a:extLst>
                    <a:ext uri="{9D8B030D-6E8A-4147-A177-3AD203B41FA5}">
                      <a16:colId xmlns:a16="http://schemas.microsoft.com/office/drawing/2014/main" val="3848431197"/>
                    </a:ext>
                  </a:extLst>
                </a:gridCol>
                <a:gridCol w="772887">
                  <a:extLst>
                    <a:ext uri="{9D8B030D-6E8A-4147-A177-3AD203B41FA5}">
                      <a16:colId xmlns:a16="http://schemas.microsoft.com/office/drawing/2014/main" val="1324118605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fontAlgn="t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ВВП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Капитализация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Задолженность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25513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t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558075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Капитализация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3,8%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14,5%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>
                        <a:solidFill>
                          <a:srgbClr val="FF866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>
                        <a:solidFill>
                          <a:srgbClr val="FF866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>
                        <a:solidFill>
                          <a:srgbClr val="FF866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>
                        <a:solidFill>
                          <a:srgbClr val="FF866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049152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Задолженность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8,3%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4,7%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74,4%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2,8%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 dirty="0">
                        <a:solidFill>
                          <a:srgbClr val="FF866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>
                        <a:solidFill>
                          <a:srgbClr val="FF866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48421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Экспорт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84,4%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16,2%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91,6%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4,8%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33,8%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98,7%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2667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4735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mtClean="0"/>
              <a:t>Приложение (3)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(Причинность </a:t>
            </a:r>
            <a:r>
              <a:rPr lang="ru-RU" dirty="0"/>
              <a:t>по </a:t>
            </a:r>
            <a:r>
              <a:rPr lang="ru-RU" dirty="0" err="1" smtClean="0"/>
              <a:t>Грейнджеру</a:t>
            </a:r>
            <a:r>
              <a:rPr lang="ru-RU" dirty="0" smtClean="0"/>
              <a:t>)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2186163"/>
              </p:ext>
            </p:extLst>
          </p:nvPr>
        </p:nvGraphicFramePr>
        <p:xfrm>
          <a:off x="1832800" y="1723500"/>
          <a:ext cx="6494400" cy="2268000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442191263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283815589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379432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005509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37332222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858628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1652001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3243882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7993280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22490734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fontAlgn="b"/>
                      <a:endParaRPr lang="ru-RU" sz="11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Кол-во лагов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0439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Капитализация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85,56%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39,52%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47,43%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22,26%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14,02%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19,32%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10,05%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18,24%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95906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Задолженность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0,20%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0,60%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0,92%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3,39%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6,56%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7,82%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13,70%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6,13%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3764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Китай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Экспорт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62,90%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33,76%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50,85%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75,08%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82,93%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69,21%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66,60%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68,87%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901986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Капитализация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1,49%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0,53%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0,14%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0,37%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0,07%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0,21%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56592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Задолженность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10,85%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8,64%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4,98%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8,16%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9,83%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6,06%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7,80%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1,08%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23516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Индия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ru-RU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Экспорт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1,61%</a:t>
                      </a:r>
                    </a:p>
                  </a:txBody>
                  <a:tcPr marL="9525" marR="9525" marT="952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7,04%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1,22%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6,54%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8,29%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1,35%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66FF66"/>
                          </a:solidFill>
                          <a:effectLst/>
                          <a:latin typeface="Calibri" panose="020F0502020204030204" pitchFamily="34" charset="0"/>
                        </a:rPr>
                        <a:t>2,49%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100" b="0" i="0" u="none" strike="noStrike" dirty="0">
                          <a:solidFill>
                            <a:srgbClr val="FF8669"/>
                          </a:solidFill>
                          <a:effectLst/>
                          <a:latin typeface="Calibri" panose="020F0502020204030204" pitchFamily="34" charset="0"/>
                        </a:rPr>
                        <a:t>8,80%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034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958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396</TotalTime>
  <Words>1299</Words>
  <Application>Microsoft Office PowerPoint</Application>
  <PresentationFormat>Произвольный</PresentationFormat>
  <Paragraphs>257</Paragraphs>
  <Slides>35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35</vt:i4>
      </vt:variant>
    </vt:vector>
  </HeadingPairs>
  <TitlesOfParts>
    <vt:vector size="44" baseType="lpstr">
      <vt:lpstr>Arial</vt:lpstr>
      <vt:lpstr>Book Antiqua</vt:lpstr>
      <vt:lpstr>Calibri</vt:lpstr>
      <vt:lpstr>Lucida Sans</vt:lpstr>
      <vt:lpstr>Times New Roman</vt:lpstr>
      <vt:lpstr>Wingdings</vt:lpstr>
      <vt:lpstr>Wingdings 2</vt:lpstr>
      <vt:lpstr>Wingdings 3</vt:lpstr>
      <vt:lpstr>Apex</vt:lpstr>
      <vt:lpstr>Сравнительный анализ вклада фондового рынка в экономику Республики Индия и Китайской Народной Республики</vt:lpstr>
      <vt:lpstr>Обоснование исследования</vt:lpstr>
      <vt:lpstr>Исходные данные</vt:lpstr>
      <vt:lpstr>Динамика показателей</vt:lpstr>
      <vt:lpstr>Динамика показателей (Китай)</vt:lpstr>
      <vt:lpstr>Динамика показателей (Индия)</vt:lpstr>
      <vt:lpstr>Абсолютные приросты</vt:lpstr>
      <vt:lpstr>Динамика показателей</vt:lpstr>
      <vt:lpstr>Динамика показателей (Китай)</vt:lpstr>
      <vt:lpstr>Динамика показателей (Индия)</vt:lpstr>
      <vt:lpstr>Векторная авторегрессия</vt:lpstr>
      <vt:lpstr>VAR Индии: спецификация</vt:lpstr>
      <vt:lpstr>VAR Индии: прогноз</vt:lpstr>
      <vt:lpstr>VAR Китая: спецификация</vt:lpstr>
      <vt:lpstr>VAR Китая: прогноз</vt:lpstr>
      <vt:lpstr>Функции импульсных откликов</vt:lpstr>
      <vt:lpstr>Отклик ВВП Китая на шоки</vt:lpstr>
      <vt:lpstr>Отклик ВВП Индии на шоки</vt:lpstr>
      <vt:lpstr>Кумулятивная функция импульсных откликов</vt:lpstr>
      <vt:lpstr>Накопленная реакция Китая</vt:lpstr>
      <vt:lpstr>Накопленная реакция ВВП Индии</vt:lpstr>
      <vt:lpstr>Разложение дисперсии ошибки прогноза</vt:lpstr>
      <vt:lpstr>Вклад переменных в ВВП Индии</vt:lpstr>
      <vt:lpstr>Вклад переменных в ВВП Китая</vt:lpstr>
      <vt:lpstr>Выводы (1)</vt:lpstr>
      <vt:lpstr>Выводы (2)</vt:lpstr>
      <vt:lpstr>Выводы (3)</vt:lpstr>
      <vt:lpstr>Заключение по Индии</vt:lpstr>
      <vt:lpstr>Рекомендации для Индии</vt:lpstr>
      <vt:lpstr>Заключение по Китаю</vt:lpstr>
      <vt:lpstr>Рекомендации для Китая</vt:lpstr>
      <vt:lpstr>Спасибо за внимание</vt:lpstr>
      <vt:lpstr>Приложение (1) (тесты на стационарность)</vt:lpstr>
      <vt:lpstr>Приложение (2) (тесты на коинтеграцию)</vt:lpstr>
      <vt:lpstr>Приложение (3) (Причинность по Грейнджеру)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Сравнительный анализ вклада фондового рынка в экономику Республики Индия и Китайской Народной Республики</dc:title>
  <dc:creator>Boris Klyukin</dc:creator>
  <cp:lastModifiedBy>Клюкин Борис Денисович</cp:lastModifiedBy>
  <cp:revision>27</cp:revision>
  <cp:lastPrinted>2026-03-30T08:58:47Z</cp:lastPrinted>
  <dcterms:created xsi:type="dcterms:W3CDTF">2006-08-16T00:00:00Z</dcterms:created>
  <dcterms:modified xsi:type="dcterms:W3CDTF">2026-03-30T09:42:57Z</dcterms:modified>
</cp:coreProperties>
</file>